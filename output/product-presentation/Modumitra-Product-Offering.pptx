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29121c8bd648d9" /><Relationship Type="http://schemas.openxmlformats.org/officeDocument/2006/relationships/extended-properties" Target="/docProps/app.xml" Id="Rbc6e32454bb744f3" /><Relationship Type="http://schemas.openxmlformats.org/officeDocument/2006/relationships/officeDocument" Target="/ppt/presentation.xml" Id="R48808601a42044f7" /></Relationships>
</file>

<file path=ppt/presentation.xml><?xml version="1.0" encoding="utf-8"?>
<p:presentation xmlns:p="http://schemas.openxmlformats.org/presentationml/2006/main">
  <p:sldMasterIdLst>
    <p:sldMasterId xmlns:r="http://schemas.openxmlformats.org/officeDocument/2006/relationships" id="2147483648" r:id="R3e9070eda25849f5"/>
  </p:sldMasterIdLst>
  <p:notesMasterIdLst>
    <p:notesMasterId xmlns:r="http://schemas.openxmlformats.org/officeDocument/2006/relationships" r:id="R2f9e4c57690e4b42"/>
  </p:notesMasterIdLst>
  <p:sldIdLst>
    <p:sldId xmlns:r="http://schemas.openxmlformats.org/officeDocument/2006/relationships" id="256" r:id="Rc13a2c36e0114bb5"/>
    <p:sldId xmlns:r="http://schemas.openxmlformats.org/officeDocument/2006/relationships" id="257" r:id="Ra054bf31d5cf4227"/>
    <p:sldId xmlns:r="http://schemas.openxmlformats.org/officeDocument/2006/relationships" id="258" r:id="R72b8e09d541a4e18"/>
    <p:sldId xmlns:r="http://schemas.openxmlformats.org/officeDocument/2006/relationships" id="259" r:id="R1bdc21c34af44b8f"/>
    <p:sldId xmlns:r="http://schemas.openxmlformats.org/officeDocument/2006/relationships" id="260" r:id="R73b620a587184d17"/>
    <p:sldId xmlns:r="http://schemas.openxmlformats.org/officeDocument/2006/relationships" id="261" r:id="R8a2ad19c1abd499f"/>
    <p:sldId xmlns:r="http://schemas.openxmlformats.org/officeDocument/2006/relationships" id="262" r:id="Rf433c35219f84323"/>
    <p:sldId xmlns:r="http://schemas.openxmlformats.org/officeDocument/2006/relationships" id="263" r:id="R7474d98bd6a2488b"/>
    <p:sldId xmlns:r="http://schemas.openxmlformats.org/officeDocument/2006/relationships" id="264" r:id="Rb3bfa20430a2406a"/>
    <p:sldId xmlns:r="http://schemas.openxmlformats.org/officeDocument/2006/relationships" id="265" r:id="R2c73567110ad497a"/>
    <p:sldId xmlns:r="http://schemas.openxmlformats.org/officeDocument/2006/relationships" id="266" r:id="Rf36b650c1c5942e8"/>
    <p:sldId xmlns:r="http://schemas.openxmlformats.org/officeDocument/2006/relationships" id="267" r:id="Ra6986dbf3a6d43e0"/>
    <p:sldId xmlns:r="http://schemas.openxmlformats.org/officeDocument/2006/relationships" id="268" r:id="R41da127e491642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5fdfe5109a4dc6" /><Relationship Type="http://schemas.openxmlformats.org/officeDocument/2006/relationships/slideMaster" Target="/ppt/slideMasters/slideMaster1.xml" Id="R3e9070eda25849f5" /><Relationship Type="http://schemas.openxmlformats.org/officeDocument/2006/relationships/notesMaster" Target="/ppt/notesMasters/notesMaster1.xml" Id="R2f9e4c57690e4b42" /><Relationship Type="http://schemas.openxmlformats.org/officeDocument/2006/relationships/presProps" Target="/ppt/presProps.xml" Id="Rc0d3ee1f8fc74dbe" /><Relationship Type="http://schemas.openxmlformats.org/officeDocument/2006/relationships/tableStyles" Target="/ppt/tableStyles.xml" Id="Ra7d8ae5090a94c61" /><Relationship Type="http://schemas.openxmlformats.org/officeDocument/2006/relationships/slide" Target="/ppt/slides/slide1.xml" Id="Rc13a2c36e0114bb5" /><Relationship Type="http://schemas.openxmlformats.org/officeDocument/2006/relationships/slide" Target="/ppt/slides/slide2.xml" Id="Ra054bf31d5cf4227" /><Relationship Type="http://schemas.openxmlformats.org/officeDocument/2006/relationships/slide" Target="/ppt/slides/slide3.xml" Id="R72b8e09d541a4e18" /><Relationship Type="http://schemas.openxmlformats.org/officeDocument/2006/relationships/slide" Target="/ppt/slides/slide4.xml" Id="R1bdc21c34af44b8f" /><Relationship Type="http://schemas.openxmlformats.org/officeDocument/2006/relationships/slide" Target="/ppt/slides/slide5.xml" Id="R73b620a587184d17" /><Relationship Type="http://schemas.openxmlformats.org/officeDocument/2006/relationships/slide" Target="/ppt/slides/slide6.xml" Id="R8a2ad19c1abd499f" /><Relationship Type="http://schemas.openxmlformats.org/officeDocument/2006/relationships/slide" Target="/ppt/slides/slide7.xml" Id="Rf433c35219f84323" /><Relationship Type="http://schemas.openxmlformats.org/officeDocument/2006/relationships/slide" Target="/ppt/slides/slide8.xml" Id="R7474d98bd6a2488b" /><Relationship Type="http://schemas.openxmlformats.org/officeDocument/2006/relationships/slide" Target="/ppt/slides/slide9.xml" Id="Rb3bfa20430a2406a" /><Relationship Type="http://schemas.openxmlformats.org/officeDocument/2006/relationships/slide" Target="/ppt/slides/slide10.xml" Id="R2c73567110ad497a" /><Relationship Type="http://schemas.openxmlformats.org/officeDocument/2006/relationships/slide" Target="/ppt/slides/slide11.xml" Id="Rf36b650c1c5942e8" /><Relationship Type="http://schemas.openxmlformats.org/officeDocument/2006/relationships/slide" Target="/ppt/slides/slide12.xml" Id="Ra6986dbf3a6d43e0" /><Relationship Type="http://schemas.openxmlformats.org/officeDocument/2006/relationships/slide" Target="/ppt/slides/slide13.xml" Id="R41da127e491642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9c8e09ec9242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4d931908ae4b42" /><Relationship Type="http://schemas.openxmlformats.org/officeDocument/2006/relationships/notesMaster" Target="/ppt/notesMasters/notesMaster1.xml" Id="Rdf6823528f7c42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dc94ea635c4992" /><Relationship Type="http://schemas.openxmlformats.org/officeDocument/2006/relationships/notesMaster" Target="/ppt/notesMasters/notesMaster1.xml" Id="Rb6f826fe2b3c4b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76e75550904723" /><Relationship Type="http://schemas.openxmlformats.org/officeDocument/2006/relationships/notesMaster" Target="/ppt/notesMasters/notesMaster1.xml" Id="R886680fe0c5c40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90de2ff71a45a1" /><Relationship Type="http://schemas.openxmlformats.org/officeDocument/2006/relationships/notesMaster" Target="/ppt/notesMasters/notesMaster1.xml" Id="R2e7957a9de7a4b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140a75a51c490e" /><Relationship Type="http://schemas.openxmlformats.org/officeDocument/2006/relationships/notesMaster" Target="/ppt/notesMasters/notesMaster1.xml" Id="R9ed0801b578b4c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21a8a1a77a455d" /><Relationship Type="http://schemas.openxmlformats.org/officeDocument/2006/relationships/notesMaster" Target="/ppt/notesMasters/notesMaster1.xml" Id="R8bd156e217b448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1af490d9a54580" /><Relationship Type="http://schemas.openxmlformats.org/officeDocument/2006/relationships/notesMaster" Target="/ppt/notesMasters/notesMaster1.xml" Id="Rffe61eb482ab4c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2c7a6503f74d71" /><Relationship Type="http://schemas.openxmlformats.org/officeDocument/2006/relationships/notesMaster" Target="/ppt/notesMasters/notesMaster1.xml" Id="R0ba77663cf0b49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5ac1b7d79648e7" /><Relationship Type="http://schemas.openxmlformats.org/officeDocument/2006/relationships/notesMaster" Target="/ppt/notesMasters/notesMaster1.xml" Id="R8ed750f5832a46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67de68d87c4476" /><Relationship Type="http://schemas.openxmlformats.org/officeDocument/2006/relationships/notesMaster" Target="/ppt/notesMasters/notesMaster1.xml" Id="R3235e2aae03143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35fcc3140645dc" /><Relationship Type="http://schemas.openxmlformats.org/officeDocument/2006/relationships/notesMaster" Target="/ppt/notesMasters/notesMaster1.xml" Id="R9af81d213e0b4c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e636fd056d4f48" /><Relationship Type="http://schemas.openxmlformats.org/officeDocument/2006/relationships/notesMaster" Target="/ppt/notesMasters/notesMaster1.xml" Id="R710c79de1d2646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8484831b68d445c" /><Relationship Type="http://schemas.openxmlformats.org/officeDocument/2006/relationships/notesMaster" Target="/ppt/notesMasters/notesMaster1.xml" Id="R7fa64eb7e0444b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pitch: We help interior professionals design rooms, show the result in 3D and prepare a quote using their own prices. Cabinet Studio is the product name in the source scope.</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simple explanation of the product. The following slides describe the intended offering. The delivery-status slide explains what still needs release verification.</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buyer is the professional or company using the software. Their homeowner or end client remains their customer.</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product scope commitments, not a claim of complete catalogue coverage. Images are existing Kenney furniture catalogue assets and illustrate object types, not final rendered rooms. Asset source: public/models/kenney-furniture.</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workflow as a guided sequence. Import recognition requires review and scale confirmation before applying geometry. A design can also start with manual drawing.</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integration has extraction, review gates, scale confirmation and an undoable apply. Do not promise perfect recognition for every image or every format. PDF underlay is not equivalent to automatic extraction.</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BOQ means bill of quantities: an itemised list of materials and work. Whole-interior pricing uses the appropriate area, length, count or component measurement. No invented savings or price accuracy claims.</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outputs form the offering. Coverage and release verification remain subject to the delivery roadmap. Invoice exports use the customer business identity, not ours.</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Professional and Company scope. This is a records ledger, not a payment gateway. Each payment must count once. Only the current commercial obligation contributes to outstanding totals. Preserve full correction history.</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plan packaging, not a statement that paid subscriptions are live. Prices, exact limits and allowances remain open decisions. All paid plans include saving, basic client details and protected quote revisions.</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comes from the local delivery tracker, not a fresh end-to-end certification. Some documents contain older checkpoints. Treat this as a conservative planning summary.</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presentation of the source roadmap, with no invented dates. Platform work starts alongside design and costing work. Designer launches first, followed by Professional and then Company after their gates pass.</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spoken close: Modumitra helps interior professionals design a space, show it in 3D, price it using their own rates and manage the project records. We earn through subscriptions. Customers keep their clients and collect their own money.</a:t>
            </a:r>
          </a:p>
          <a:p xmlns:a="http://schemas.openxmlformats.org/drawingml/2006/main">
            <a:r>
              <a:t>Source: docs/BUSINESS_PRODUCT_SCOPE.md; docs/INTERIOR_PRODUCT_ROADMAP.md; docs/INTERIOR_PRODUCT_DELIVERY.md. Product scope and delivery status,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a45d523f274a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e984ab5e844744" /><Relationship Type="http://schemas.openxmlformats.org/officeDocument/2006/relationships/slideLayout" Target="/ppt/slideLayouts/slideLayout1.xml" Id="R8b87df93d86b42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87df93d86b42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f0d30eae9e4f96" /><Relationship Type="http://schemas.openxmlformats.org/officeDocument/2006/relationships/notesSlide" Target="/ppt/notesSlides/notesSlide1.xml" Id="R1d4dbeb0a29a49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190f0163784f57" /><Relationship Type="http://schemas.openxmlformats.org/officeDocument/2006/relationships/notesSlide" Target="/ppt/notesSlides/notesSlide2.xml" Id="R3db75ca8012a4b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f79ed132b24491" /><Relationship Type="http://schemas.openxmlformats.org/officeDocument/2006/relationships/notesSlide" Target="/ppt/notesSlides/notesSlide3.xml" Id="R9c73d9b0fa1f4f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533f9c14de4a05" /><Relationship Type="http://schemas.openxmlformats.org/officeDocument/2006/relationships/image" Target="/ppt/media/image.png" Id="Re5ae6b24ecf54617" /><Relationship Type="http://schemas.openxmlformats.org/officeDocument/2006/relationships/image" Target="/ppt/media/image2.png" Id="R28d542591c744641" /><Relationship Type="http://schemas.openxmlformats.org/officeDocument/2006/relationships/image" Target="/ppt/media/image3.png" Id="R9c3ef44a355a43d6" /><Relationship Type="http://schemas.openxmlformats.org/officeDocument/2006/relationships/notesSlide" Target="/ppt/notesSlides/notesSlide4.xml" Id="Re3dc43c81b2b4c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cd8b792bd249fb" /><Relationship Type="http://schemas.openxmlformats.org/officeDocument/2006/relationships/notesSlide" Target="/ppt/notesSlides/notesSlide5.xml" Id="Ra02c3a4de55149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ffafde992049df" /><Relationship Type="http://schemas.openxmlformats.org/officeDocument/2006/relationships/notesSlide" Target="/ppt/notesSlides/notesSlide6.xml" Id="R31c22432f7aa47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eb796d178149f2" /><Relationship Type="http://schemas.openxmlformats.org/officeDocument/2006/relationships/notesSlide" Target="/ppt/notesSlides/notesSlide7.xml" Id="Rbfed3f4fadb545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9f3c08df6474980" /><Relationship Type="http://schemas.openxmlformats.org/officeDocument/2006/relationships/notesSlide" Target="/ppt/notesSlides/notesSlide8.xml" Id="Ra505009a01d442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cc2766f4dc44fca" /><Relationship Type="http://schemas.openxmlformats.org/officeDocument/2006/relationships/notesSlide" Target="/ppt/notesSlides/notesSlide9.xml" Id="R34dca02c38ee48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38a82436a7c4e2b" /><Relationship Type="http://schemas.openxmlformats.org/officeDocument/2006/relationships/notesSlide" Target="/ppt/notesSlides/notesSlide10.xml" Id="R1e066580381246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54a1fe94d874131" /><Relationship Type="http://schemas.openxmlformats.org/officeDocument/2006/relationships/notesSlide" Target="/ppt/notesSlides/notesSlide11.xml" Id="Ra86365fe98b240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6ad54c5d2324355" /><Relationship Type="http://schemas.openxmlformats.org/officeDocument/2006/relationships/notesSlide" Target="/ppt/notesSlides/notesSlide12.xml" Id="R60fde3438f2e46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4a8e6207d404e8e" /><Relationship Type="http://schemas.openxmlformats.org/officeDocument/2006/relationships/notesSlide" Target="/ppt/notesSlides/notesSlide13.xml" Id="R417e01b301574976" /></Relationships>
</file>

<file path=ppt/slides/slide1.xml><?xml version="1.0" encoding="utf-8"?>
<p:sld xmlns:p="http://schemas.openxmlformats.org/presentationml/2006/main">
  <p:cSld>
    <p:bg>
      <p:bgPr>
        <a:solidFill xmlns:a="http://schemas.openxmlformats.org/drawingml/2006/main">
          <a:srgbClr val="102D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691125-9A6C-4702-A1EA-F0CA29B6D141}"/>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3EB"/>
                </a:solidFill>
                <a:latin typeface="Helvetica Neue"/>
                <a:ea typeface="Helvetica Neue"/>
                <a:cs typeface="Helvetica Neue"/>
              </a:defRPr>
            </a:pPr>
            <a:r>
              <a:rPr sz="3450" b="1">
                <a:solidFill>
                  <a:srgbClr val="F6F3EB"/>
                </a:solidFill>
                <a:latin typeface="Helvetica Neue"/>
                <a:ea typeface="Helvetica Neue"/>
                <a:cs typeface="Helvetica Neue"/>
              </a:rPr>
              <a:t>Modumitra</a:t>
            </a:r>
          </a:p>
        </p:txBody>
      </p:sp>
      <p:sp>
        <p:nvSpPr>
          <p:cNvPr id="2" name="">
            <a:extLst xmlns:a="http://schemas.openxmlformats.org/drawingml/2006/main">
              <a:ext uri="{FF2B5EF4-FFF2-40B4-BE49-F238E27FC236}">
                <a16:creationId xmlns:a16="http://schemas.microsoft.com/office/drawing/2014/main" id="{48B1109B-D00D-414E-9E02-6F7EC36B95A6}"/>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7D8C4"/>
                </a:solidFill>
                <a:latin typeface="Helvetica Neue"/>
                <a:ea typeface="Helvetica Neue"/>
                <a:cs typeface="Helvetica Neue"/>
              </a:defRPr>
            </a:pPr>
            <a:r>
              <a:rPr sz="1125" b="0">
                <a:solidFill>
                  <a:srgbClr val="A7D8C4"/>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E1C56F8C-B5D4-45AD-87BF-229077FACBEB}"/>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7D8C4"/>
                </a:solidFill>
                <a:latin typeface="Helvetica Neue"/>
                <a:ea typeface="Helvetica Neue"/>
                <a:cs typeface="Helvetica Neue"/>
              </a:defRPr>
            </a:pPr>
            <a:r>
              <a:rPr sz="1125" b="0">
                <a:solidFill>
                  <a:srgbClr val="A7D8C4"/>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09501CD8-F67F-4341-902C-EAD6BE2F9DCE}"/>
              </a:ext>
            </a:extLst>
          </p:cNvPr>
          <p:cNvSpPr>
            <a:spLocks xmlns:a="http://schemas.openxmlformats.org/drawingml/2006/main" noGrp="1"/>
          </p:cNvSpPr>
          <p:nvPr/>
        </p:nvSpPr>
        <p:spPr>
          <a:xfrm xmlns:a="http://schemas.openxmlformats.org/drawingml/2006/main">
            <a:off x="685800" y="2095500"/>
            <a:ext cx="8096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6F3EB"/>
                </a:solidFill>
                <a:latin typeface="Helvetica Neue"/>
                <a:ea typeface="Helvetica Neue"/>
                <a:cs typeface="Helvetica Neue"/>
              </a:defRPr>
            </a:pPr>
            <a:r>
              <a:rPr sz="4875" b="1">
                <a:solidFill>
                  <a:srgbClr val="F6F3EB"/>
                </a:solidFill>
                <a:latin typeface="Helvetica Neue"/>
                <a:ea typeface="Helvetica Neue"/>
                <a:cs typeface="Helvetica Neue"/>
              </a:rPr>
              <a:t>Interior design</a:t>
            </a:r>
          </a:p>
          <a:p xmlns:a="http://schemas.openxmlformats.org/drawingml/2006/main">
            <a:pPr>
              <a:defRPr sz="4875" b="1">
                <a:solidFill>
                  <a:srgbClr val="F6F3EB"/>
                </a:solidFill>
                <a:latin typeface="Helvetica Neue"/>
                <a:ea typeface="Helvetica Neue"/>
                <a:cs typeface="Helvetica Neue"/>
              </a:defRPr>
            </a:pPr>
            <a:r>
              <a:rPr sz="4875" b="1">
                <a:solidFill>
                  <a:srgbClr val="F6F3EB"/>
                </a:solidFill>
                <a:latin typeface="Helvetica Neue"/>
                <a:ea typeface="Helvetica Neue"/>
                <a:cs typeface="Helvetica Neue"/>
              </a:rPr>
              <a:t>and business software</a:t>
            </a:r>
          </a:p>
        </p:txBody>
      </p:sp>
      <p:sp>
        <p:nvSpPr>
          <p:cNvPr id="5" name="">
            <a:extLst xmlns:a="http://schemas.openxmlformats.org/drawingml/2006/main">
              <a:ext uri="{FF2B5EF4-FFF2-40B4-BE49-F238E27FC236}">
                <a16:creationId xmlns:a16="http://schemas.microsoft.com/office/drawing/2014/main" id="{50D1AB7A-2762-4E0E-A1C0-27C6F85C0951}"/>
              </a:ext>
            </a:extLst>
          </p:cNvPr>
          <p:cNvSpPr>
            <a:spLocks xmlns:a="http://schemas.openxmlformats.org/drawingml/2006/main" noGrp="1"/>
          </p:cNvSpPr>
          <p:nvPr/>
        </p:nvSpPr>
        <p:spPr>
          <a:xfrm xmlns:a="http://schemas.openxmlformats.org/drawingml/2006/main">
            <a:off x="723900" y="4572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A7D8C4"/>
                </a:solidFill>
                <a:latin typeface="Helvetica Neue"/>
                <a:ea typeface="Helvetica Neue"/>
                <a:cs typeface="Helvetica Neue"/>
              </a:defRPr>
            </a:pPr>
            <a:r>
              <a:rPr sz="2325" b="0">
                <a:solidFill>
                  <a:srgbClr val="A7D8C4"/>
                </a:solidFill>
                <a:latin typeface="Helvetica Neue"/>
                <a:ea typeface="Helvetica Neue"/>
                <a:cs typeface="Helvetica Neue"/>
              </a:rPr>
              <a:t>Plan rooms. Show the design. Price the work.</a:t>
            </a:r>
          </a:p>
        </p:txBody>
      </p:sp>
      <p:sp>
        <p:nvSpPr>
          <p:cNvPr id="6" name="">
            <a:extLst xmlns:a="http://schemas.openxmlformats.org/drawingml/2006/main">
              <a:ext uri="{FF2B5EF4-FFF2-40B4-BE49-F238E27FC236}">
                <a16:creationId xmlns:a16="http://schemas.microsoft.com/office/drawing/2014/main" id="{AD212A4B-04BB-4CA7-B8F3-E2A453038F45}"/>
              </a:ext>
            </a:extLst>
          </p:cNvPr>
          <p:cNvSpPr>
            <a:spLocks xmlns:a="http://schemas.openxmlformats.org/drawingml/2006/main" noGrp="1"/>
          </p:cNvSpPr>
          <p:nvPr/>
        </p:nvSpPr>
        <p:spPr>
          <a:xfrm xmlns:a="http://schemas.openxmlformats.org/drawingml/2006/main">
            <a:off x="723900" y="55340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6F3EB"/>
                </a:solidFill>
                <a:latin typeface="Helvetica Neue"/>
                <a:ea typeface="Helvetica Neue"/>
                <a:cs typeface="Helvetica Neue"/>
              </a:defRPr>
            </a:pPr>
            <a:r>
              <a:rPr sz="1575" b="0">
                <a:solidFill>
                  <a:srgbClr val="F6F3EB"/>
                </a:solidFill>
                <a:latin typeface="Helvetica Neue"/>
                <a:ea typeface="Helvetica Neue"/>
                <a:cs typeface="Helvetica Neue"/>
              </a:rPr>
              <a:t>Product offering and delivery plan  /  September 2026</a:t>
            </a:r>
          </a:p>
        </p:txBody>
      </p:sp>
    </p:spTree>
    <p:extLst>
      <p:ext uri="{BB962C8B-B14F-4D97-AF65-F5344CB8AC3E}">
        <p14:creationId xmlns:p14="http://schemas.microsoft.com/office/powerpoint/2010/main" val="1592066911"/>
      </p:ext>
    </p:extLst>
  </p:cSld>
</p:sld>
</file>

<file path=ppt/slides/slide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FEE3C2-507F-4481-93A7-C839E4FAC8FF}"/>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3B35"/>
                </a:solidFill>
                <a:latin typeface="Helvetica Neue"/>
                <a:ea typeface="Helvetica Neue"/>
                <a:cs typeface="Helvetica Neue"/>
              </a:defRPr>
            </a:pPr>
            <a:r>
              <a:rPr sz="3450" b="1">
                <a:solidFill>
                  <a:srgbClr val="153B35"/>
                </a:solidFill>
                <a:latin typeface="Helvetica Neue"/>
                <a:ea typeface="Helvetica Neue"/>
                <a:cs typeface="Helvetica Neue"/>
              </a:rPr>
              <a:t>What we offer</a:t>
            </a:r>
          </a:p>
        </p:txBody>
      </p:sp>
      <p:sp>
        <p:nvSpPr>
          <p:cNvPr id="2" name="">
            <a:extLst xmlns:a="http://schemas.openxmlformats.org/drawingml/2006/main">
              <a:ext uri="{FF2B5EF4-FFF2-40B4-BE49-F238E27FC236}">
                <a16:creationId xmlns:a16="http://schemas.microsoft.com/office/drawing/2014/main" id="{4CF8DCCA-8189-48B7-956B-7A2CB4302EE3}"/>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72F12009-B0CA-4337-A779-753AA89B100A}"/>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9B5ED76C-09B0-4220-A476-E4E931E3F00E}"/>
              </a:ext>
            </a:extLst>
          </p:cNvPr>
          <p:cNvSpPr>
            <a:spLocks xmlns:a="http://schemas.openxmlformats.org/drawingml/2006/main" noGrp="1"/>
          </p:cNvSpPr>
          <p:nvPr/>
        </p:nvSpPr>
        <p:spPr>
          <a:xfrm xmlns:a="http://schemas.openxmlformats.org/drawingml/2006/main">
            <a:off x="685800" y="1952625"/>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53B35"/>
                </a:solidFill>
                <a:latin typeface="Helvetica Neue"/>
                <a:ea typeface="Helvetica Neue"/>
                <a:cs typeface="Helvetica Neue"/>
              </a:defRPr>
            </a:pPr>
            <a:r>
              <a:rPr sz="3375" b="1">
                <a:solidFill>
                  <a:srgbClr val="153B35"/>
                </a:solidFill>
                <a:latin typeface="Helvetica Neue"/>
                <a:ea typeface="Helvetica Neue"/>
                <a:cs typeface="Helvetica Neue"/>
              </a:rPr>
              <a:t>One workspace for designing interiors</a:t>
            </a:r>
          </a:p>
          <a:p xmlns:a="http://schemas.openxmlformats.org/drawingml/2006/main">
            <a:pPr>
              <a:defRPr sz="3375" b="1">
                <a:solidFill>
                  <a:srgbClr val="153B35"/>
                </a:solidFill>
                <a:latin typeface="Helvetica Neue"/>
                <a:ea typeface="Helvetica Neue"/>
                <a:cs typeface="Helvetica Neue"/>
              </a:defRPr>
            </a:pPr>
            <a:r>
              <a:rPr sz="3375" b="1">
                <a:solidFill>
                  <a:srgbClr val="153B35"/>
                </a:solidFill>
                <a:latin typeface="Helvetica Neue"/>
                <a:ea typeface="Helvetica Neue"/>
                <a:cs typeface="Helvetica Neue"/>
              </a:rPr>
              <a:t>and preparing the customer proposal.</a:t>
            </a:r>
          </a:p>
        </p:txBody>
      </p:sp>
      <p:sp>
        <p:nvSpPr>
          <p:cNvPr id="5" name="">
            <a:extLst xmlns:a="http://schemas.openxmlformats.org/drawingml/2006/main">
              <a:ext uri="{FF2B5EF4-FFF2-40B4-BE49-F238E27FC236}">
                <a16:creationId xmlns:a16="http://schemas.microsoft.com/office/drawing/2014/main" id="{F16D1664-07E6-4999-8C91-3C82C393A308}"/>
              </a:ext>
            </a:extLst>
          </p:cNvPr>
          <p:cNvSpPr>
            <a:spLocks xmlns:a="http://schemas.openxmlformats.org/drawingml/2006/main" noGrp="1"/>
          </p:cNvSpPr>
          <p:nvPr/>
        </p:nvSpPr>
        <p:spPr>
          <a:xfrm xmlns:a="http://schemas.openxmlformats.org/drawingml/2006/main">
            <a:off x="685800" y="3905250"/>
            <a:ext cx="1038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56A63"/>
                </a:solidFill>
                <a:latin typeface="Helvetica Neue"/>
                <a:ea typeface="Helvetica Neue"/>
                <a:cs typeface="Helvetica Neue"/>
              </a:defRPr>
            </a:pPr>
            <a:r>
              <a:rPr sz="2325" b="0">
                <a:solidFill>
                  <a:srgbClr val="556A63"/>
                </a:solidFill>
                <a:latin typeface="Helvetica Neue"/>
                <a:ea typeface="Helvetica Neue"/>
                <a:cs typeface="Helvetica Neue"/>
              </a:rPr>
              <a:t>Designers control the design and their prices.</a:t>
            </a:r>
          </a:p>
          <a:p xmlns:a="http://schemas.openxmlformats.org/drawingml/2006/main">
            <a:pPr>
              <a:defRPr sz="2325" b="0">
                <a:solidFill>
                  <a:srgbClr val="556A63"/>
                </a:solidFill>
                <a:latin typeface="Helvetica Neue"/>
                <a:ea typeface="Helvetica Neue"/>
                <a:cs typeface="Helvetica Neue"/>
              </a:defRPr>
            </a:pPr>
            <a:r>
              <a:rPr sz="2325" b="0">
                <a:solidFill>
                  <a:srgbClr val="556A63"/>
                </a:solidFill>
                <a:latin typeface="Helvetica Neue"/>
                <a:ea typeface="Helvetica Neue"/>
                <a:cs typeface="Helvetica Neue"/>
              </a:rPr>
              <a:t>We provide the software through subscriptions.</a:t>
            </a:r>
          </a:p>
        </p:txBody>
      </p:sp>
      <p:sp>
        <p:nvSpPr>
          <p:cNvPr id="6" name="">
            <a:extLst xmlns:a="http://schemas.openxmlformats.org/drawingml/2006/main">
              <a:ext uri="{FF2B5EF4-FFF2-40B4-BE49-F238E27FC236}">
                <a16:creationId xmlns:a16="http://schemas.microsoft.com/office/drawing/2014/main" id="{C0E2C50E-8054-49FB-B150-C5B0B397E153}"/>
              </a:ext>
            </a:extLst>
          </p:cNvPr>
          <p:cNvSpPr>
            <a:spLocks xmlns:a="http://schemas.openxmlformats.org/drawingml/2006/main" noGrp="1"/>
          </p:cNvSpPr>
          <p:nvPr/>
        </p:nvSpPr>
        <p:spPr>
          <a:xfrm xmlns:a="http://schemas.openxmlformats.org/drawingml/2006/main">
            <a:off x="685800" y="54864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B35"/>
                </a:solidFill>
                <a:latin typeface="Helvetica Neue"/>
                <a:ea typeface="Helvetica Neue"/>
                <a:cs typeface="Helvetica Neue"/>
              </a:defRPr>
            </a:pPr>
            <a:r>
              <a:rPr sz="1800" b="0">
                <a:solidFill>
                  <a:srgbClr val="153B35"/>
                </a:solidFill>
                <a:latin typeface="Helvetica Neue"/>
                <a:ea typeface="Helvetica Neue"/>
                <a:cs typeface="Helvetica Neue"/>
              </a:rPr>
              <a:t>Living rooms, bedrooms and kitchens are the first commercial focus.</a:t>
            </a:r>
          </a:p>
        </p:txBody>
      </p:sp>
    </p:spTree>
    <p:extLst>
      <p:ext uri="{BB962C8B-B14F-4D97-AF65-F5344CB8AC3E}">
        <p14:creationId xmlns:p14="http://schemas.microsoft.com/office/powerpoint/2010/main" val="1963243926"/>
      </p:ext>
    </p:extLst>
  </p:cSld>
</p:sld>
</file>

<file path=ppt/slides/slide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BDAC070-E079-4888-A8B1-C4040F88D6A4}"/>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3B35"/>
                </a:solidFill>
                <a:latin typeface="Helvetica Neue"/>
                <a:ea typeface="Helvetica Neue"/>
                <a:cs typeface="Helvetica Neue"/>
              </a:defRPr>
            </a:pPr>
            <a:r>
              <a:rPr sz="3450" b="1">
                <a:solidFill>
                  <a:srgbClr val="153B35"/>
                </a:solidFill>
                <a:latin typeface="Helvetica Neue"/>
                <a:ea typeface="Helvetica Neue"/>
                <a:cs typeface="Helvetica Neue"/>
              </a:rPr>
              <a:t>Who the product serves</a:t>
            </a:r>
          </a:p>
        </p:txBody>
      </p:sp>
      <p:sp>
        <p:nvSpPr>
          <p:cNvPr id="2" name="">
            <a:extLst xmlns:a="http://schemas.openxmlformats.org/drawingml/2006/main">
              <a:ext uri="{FF2B5EF4-FFF2-40B4-BE49-F238E27FC236}">
                <a16:creationId xmlns:a16="http://schemas.microsoft.com/office/drawing/2014/main" id="{5C3A9280-C3E1-444A-A03B-67F7A43BB4A8}"/>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AF710408-7DF0-481C-A390-A57E6DC7999E}"/>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D94D3D6F-35F0-432B-A0F9-84179301E345}"/>
              </a:ext>
            </a:extLst>
          </p:cNvPr>
          <p:cNvSpPr>
            <a:spLocks xmlns:a="http://schemas.openxmlformats.org/drawingml/2006/main" noGrp="1"/>
          </p:cNvSpPr>
          <p:nvPr/>
        </p:nvSpPr>
        <p:spPr>
          <a:xfrm xmlns:a="http://schemas.openxmlformats.org/drawingml/2006/main">
            <a:off x="704850" y="1981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Interior designers</a:t>
            </a:r>
          </a:p>
        </p:txBody>
      </p:sp>
      <p:sp>
        <p:nvSpPr>
          <p:cNvPr id="5" name="">
            <a:extLst xmlns:a="http://schemas.openxmlformats.org/drawingml/2006/main">
              <a:ext uri="{FF2B5EF4-FFF2-40B4-BE49-F238E27FC236}">
                <a16:creationId xmlns:a16="http://schemas.microsoft.com/office/drawing/2014/main" id="{01F9AF75-7B8A-4B3B-816A-D431E9AF98C0}"/>
              </a:ext>
            </a:extLst>
          </p:cNvPr>
          <p:cNvSpPr>
            <a:spLocks xmlns:a="http://schemas.openxmlformats.org/drawingml/2006/main" noGrp="1"/>
          </p:cNvSpPr>
          <p:nvPr/>
        </p:nvSpPr>
        <p:spPr>
          <a:xfrm xmlns:a="http://schemas.openxmlformats.org/drawingml/2006/main">
            <a:off x="4095750" y="198120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Plan complete rooms and explain the design to clients.</a:t>
            </a:r>
          </a:p>
        </p:txBody>
      </p:sp>
      <p:sp>
        <p:nvSpPr>
          <p:cNvPr id="6" name="">
            <a:extLst xmlns:a="http://schemas.openxmlformats.org/drawingml/2006/main">
              <a:ext uri="{FF2B5EF4-FFF2-40B4-BE49-F238E27FC236}">
                <a16:creationId xmlns:a16="http://schemas.microsoft.com/office/drawing/2014/main" id="{9DFA4B27-E90E-4D35-A72C-10A99A4A8A85}"/>
              </a:ext>
            </a:extLst>
          </p:cNvPr>
          <p:cNvSpPr>
            <a:spLocks xmlns:a="http://schemas.openxmlformats.org/drawingml/2006/main" noGrp="1"/>
          </p:cNvSpPr>
          <p:nvPr/>
        </p:nvSpPr>
        <p:spPr>
          <a:xfrm xmlns:a="http://schemas.openxmlformats.org/drawingml/2006/main">
            <a:off x="704850" y="29622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Cabinet workshops</a:t>
            </a:r>
          </a:p>
        </p:txBody>
      </p:sp>
      <p:sp>
        <p:nvSpPr>
          <p:cNvPr id="7" name="">
            <a:extLst xmlns:a="http://schemas.openxmlformats.org/drawingml/2006/main">
              <a:ext uri="{FF2B5EF4-FFF2-40B4-BE49-F238E27FC236}">
                <a16:creationId xmlns:a16="http://schemas.microsoft.com/office/drawing/2014/main" id="{FF8FEE3E-F7B2-403C-94BD-0F9ECD77249D}"/>
              </a:ext>
            </a:extLst>
          </p:cNvPr>
          <p:cNvSpPr>
            <a:spLocks xmlns:a="http://schemas.openxmlformats.org/drawingml/2006/main" noGrp="1"/>
          </p:cNvSpPr>
          <p:nvPr/>
        </p:nvSpPr>
        <p:spPr>
          <a:xfrm xmlns:a="http://schemas.openxmlformats.org/drawingml/2006/main">
            <a:off x="4095750" y="296227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Configure cabinets and wardrobes, then prepare quantities and costs.</a:t>
            </a:r>
          </a:p>
        </p:txBody>
      </p:sp>
      <p:sp>
        <p:nvSpPr>
          <p:cNvPr id="8" name="">
            <a:extLst xmlns:a="http://schemas.openxmlformats.org/drawingml/2006/main">
              <a:ext uri="{FF2B5EF4-FFF2-40B4-BE49-F238E27FC236}">
                <a16:creationId xmlns:a16="http://schemas.microsoft.com/office/drawing/2014/main" id="{A6586595-B041-4D7D-8E15-317BA5E4E140}"/>
              </a:ext>
            </a:extLst>
          </p:cNvPr>
          <p:cNvSpPr>
            <a:spLocks xmlns:a="http://schemas.openxmlformats.org/drawingml/2006/main" noGrp="1"/>
          </p:cNvSpPr>
          <p:nvPr/>
        </p:nvSpPr>
        <p:spPr>
          <a:xfrm xmlns:a="http://schemas.openxmlformats.org/drawingml/2006/main">
            <a:off x="704850" y="39433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Interior studios</a:t>
            </a:r>
          </a:p>
        </p:txBody>
      </p:sp>
      <p:sp>
        <p:nvSpPr>
          <p:cNvPr id="9" name="">
            <a:extLst xmlns:a="http://schemas.openxmlformats.org/drawingml/2006/main">
              <a:ext uri="{FF2B5EF4-FFF2-40B4-BE49-F238E27FC236}">
                <a16:creationId xmlns:a16="http://schemas.microsoft.com/office/drawing/2014/main" id="{B7D60CE4-AAB6-489D-A5FB-76706E4F91B3}"/>
              </a:ext>
            </a:extLst>
          </p:cNvPr>
          <p:cNvSpPr>
            <a:spLocks xmlns:a="http://schemas.openxmlformats.org/drawingml/2006/main" noGrp="1"/>
          </p:cNvSpPr>
          <p:nvPr/>
        </p:nvSpPr>
        <p:spPr>
          <a:xfrm xmlns:a="http://schemas.openxmlformats.org/drawingml/2006/main">
            <a:off x="4095750" y="394335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Keep project work, shared rates and team decisions together.</a:t>
            </a:r>
          </a:p>
        </p:txBody>
      </p:sp>
      <p:sp>
        <p:nvSpPr>
          <p:cNvPr id="10" name="">
            <a:extLst xmlns:a="http://schemas.openxmlformats.org/drawingml/2006/main">
              <a:ext uri="{FF2B5EF4-FFF2-40B4-BE49-F238E27FC236}">
                <a16:creationId xmlns:a16="http://schemas.microsoft.com/office/drawing/2014/main" id="{59918389-AD80-4C73-9A60-87DC1404BB6E}"/>
              </a:ext>
            </a:extLst>
          </p:cNvPr>
          <p:cNvSpPr>
            <a:spLocks xmlns:a="http://schemas.openxmlformats.org/drawingml/2006/main" noGrp="1"/>
          </p:cNvSpPr>
          <p:nvPr/>
        </p:nvSpPr>
        <p:spPr>
          <a:xfrm xmlns:a="http://schemas.openxmlformats.org/drawingml/2006/main">
            <a:off x="704850" y="49244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Engineers</a:t>
            </a:r>
          </a:p>
        </p:txBody>
      </p:sp>
      <p:sp>
        <p:nvSpPr>
          <p:cNvPr id="11" name="">
            <a:extLst xmlns:a="http://schemas.openxmlformats.org/drawingml/2006/main">
              <a:ext uri="{FF2B5EF4-FFF2-40B4-BE49-F238E27FC236}">
                <a16:creationId xmlns:a16="http://schemas.microsoft.com/office/drawing/2014/main" id="{A463E269-F918-472D-937B-9AE55D794523}"/>
              </a:ext>
            </a:extLst>
          </p:cNvPr>
          <p:cNvSpPr>
            <a:spLocks xmlns:a="http://schemas.openxmlformats.org/drawingml/2006/main" noGrp="1"/>
          </p:cNvSpPr>
          <p:nvPr/>
        </p:nvSpPr>
        <p:spPr>
          <a:xfrm xmlns:a="http://schemas.openxmlformats.org/drawingml/2006/main">
            <a:off x="4095750" y="492442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Review measurements and prepare supported handoff reports.</a:t>
            </a:r>
          </a:p>
        </p:txBody>
      </p:sp>
    </p:spTree>
    <p:extLst>
      <p:ext uri="{BB962C8B-B14F-4D97-AF65-F5344CB8AC3E}">
        <p14:creationId xmlns:p14="http://schemas.microsoft.com/office/powerpoint/2010/main" val="1388090354"/>
      </p:ext>
    </p:extLst>
  </p:cSld>
</p:sld>
</file>

<file path=ppt/slides/slide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C2714B0-919E-4886-A517-4814211C3894}"/>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3B35"/>
                </a:solidFill>
                <a:latin typeface="Helvetica Neue"/>
                <a:ea typeface="Helvetica Neue"/>
                <a:cs typeface="Helvetica Neue"/>
              </a:defRPr>
            </a:pPr>
            <a:r>
              <a:rPr sz="3450" b="1">
                <a:solidFill>
                  <a:srgbClr val="153B35"/>
                </a:solidFill>
                <a:latin typeface="Helvetica Neue"/>
                <a:ea typeface="Helvetica Neue"/>
                <a:cs typeface="Helvetica Neue"/>
              </a:rPr>
              <a:t>Rooms, furniture and finishes</a:t>
            </a:r>
          </a:p>
        </p:txBody>
      </p:sp>
      <p:sp>
        <p:nvSpPr>
          <p:cNvPr id="2" name="">
            <a:extLst xmlns:a="http://schemas.openxmlformats.org/drawingml/2006/main">
              <a:ext uri="{FF2B5EF4-FFF2-40B4-BE49-F238E27FC236}">
                <a16:creationId xmlns:a16="http://schemas.microsoft.com/office/drawing/2014/main" id="{B24BFF0D-2861-485E-A8F4-384F85E6E715}"/>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A4F981E4-70C3-4ECA-B9FE-A884C67D5792}"/>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04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5ae6b24ecf54617"/>
          <a:stretch xmlns:a="http://schemas.openxmlformats.org/drawingml/2006/main"/>
        </p:blipFill>
        <p:spPr>
          <a:xfrm xmlns:a="http://schemas.openxmlformats.org/drawingml/2006/main">
            <a:off x="1078723" y="1695450"/>
            <a:ext cx="2509804" cy="22860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8d542591c744641"/>
          <a:stretch xmlns:a="http://schemas.openxmlformats.org/drawingml/2006/main"/>
        </p:blipFill>
        <p:spPr>
          <a:xfrm xmlns:a="http://schemas.openxmlformats.org/drawingml/2006/main">
            <a:off x="4677103" y="1695450"/>
            <a:ext cx="2837793" cy="2286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c3ef44a355a43d6"/>
          <a:stretch xmlns:a="http://schemas.openxmlformats.org/drawingml/2006/main"/>
        </p:blipFill>
        <p:spPr>
          <a:xfrm xmlns:a="http://schemas.openxmlformats.org/drawingml/2006/main">
            <a:off x="8807161" y="1695450"/>
            <a:ext cx="1911927" cy="2286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C1F4146-086C-4E4A-8527-E52EB97BFAA5}"/>
              </a:ext>
            </a:extLst>
          </p:cNvPr>
          <p:cNvSpPr>
            <a:spLocks xmlns:a="http://schemas.openxmlformats.org/drawingml/2006/main" noGrp="1"/>
          </p:cNvSpPr>
          <p:nvPr/>
        </p:nvSpPr>
        <p:spPr>
          <a:xfrm xmlns:a="http://schemas.openxmlformats.org/drawingml/2006/main">
            <a:off x="714375" y="42672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3B35"/>
                </a:solidFill>
                <a:latin typeface="Helvetica Neue"/>
                <a:ea typeface="Helvetica Neue"/>
                <a:cs typeface="Helvetica Neue"/>
              </a:defRPr>
            </a:pPr>
            <a:r>
              <a:rPr sz="2400" b="1">
                <a:solidFill>
                  <a:srgbClr val="153B35"/>
                </a:solidFill>
                <a:latin typeface="Helvetica Neue"/>
                <a:ea typeface="Helvetica Neue"/>
                <a:cs typeface="Helvetica Neue"/>
              </a:rPr>
              <a:t>Living rooms</a:t>
            </a:r>
          </a:p>
        </p:txBody>
      </p:sp>
      <p:sp>
        <p:nvSpPr>
          <p:cNvPr id="8" name="">
            <a:extLst xmlns:a="http://schemas.openxmlformats.org/drawingml/2006/main">
              <a:ext uri="{FF2B5EF4-FFF2-40B4-BE49-F238E27FC236}">
                <a16:creationId xmlns:a16="http://schemas.microsoft.com/office/drawing/2014/main" id="{565905AC-8D9A-4E7C-92E7-E4EF680D905B}"/>
              </a:ext>
            </a:extLst>
          </p:cNvPr>
          <p:cNvSpPr>
            <a:spLocks xmlns:a="http://schemas.openxmlformats.org/drawingml/2006/main" noGrp="1"/>
          </p:cNvSpPr>
          <p:nvPr/>
        </p:nvSpPr>
        <p:spPr>
          <a:xfrm xmlns:a="http://schemas.openxmlformats.org/drawingml/2006/main">
            <a:off x="714375" y="48768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A63"/>
                </a:solidFill>
                <a:latin typeface="Helvetica Neue"/>
                <a:ea typeface="Helvetica Neue"/>
                <a:cs typeface="Helvetica Neue"/>
              </a:defRPr>
            </a:pPr>
            <a:r>
              <a:rPr sz="1875" b="0">
                <a:solidFill>
                  <a:srgbClr val="556A63"/>
                </a:solidFill>
                <a:latin typeface="Helvetica Neue"/>
                <a:ea typeface="Helvetica Neue"/>
                <a:cs typeface="Helvetica Neue"/>
              </a:rPr>
              <a:t>Sofas, TV units, shelving</a:t>
            </a:r>
          </a:p>
          <a:p xmlns:a="http://schemas.openxmlformats.org/drawingml/2006/main">
            <a:pPr>
              <a:defRPr sz="1875" b="0">
                <a:solidFill>
                  <a:srgbClr val="556A63"/>
                </a:solidFill>
                <a:latin typeface="Helvetica Neue"/>
                <a:ea typeface="Helvetica Neue"/>
                <a:cs typeface="Helvetica Neue"/>
              </a:defRPr>
            </a:pPr>
            <a:r>
              <a:rPr sz="1875" b="0">
                <a:solidFill>
                  <a:srgbClr val="556A63"/>
                </a:solidFill>
                <a:latin typeface="Helvetica Neue"/>
                <a:ea typeface="Helvetica Neue"/>
                <a:cs typeface="Helvetica Neue"/>
              </a:rPr>
              <a:t>and room finishes</a:t>
            </a:r>
          </a:p>
        </p:txBody>
      </p:sp>
      <p:sp>
        <p:nvSpPr>
          <p:cNvPr id="9" name="">
            <a:extLst xmlns:a="http://schemas.openxmlformats.org/drawingml/2006/main">
              <a:ext uri="{FF2B5EF4-FFF2-40B4-BE49-F238E27FC236}">
                <a16:creationId xmlns:a16="http://schemas.microsoft.com/office/drawing/2014/main" id="{C616C505-D388-45F4-A014-0A30B1C3194D}"/>
              </a:ext>
            </a:extLst>
          </p:cNvPr>
          <p:cNvSpPr>
            <a:spLocks xmlns:a="http://schemas.openxmlformats.org/drawingml/2006/main" noGrp="1"/>
          </p:cNvSpPr>
          <p:nvPr/>
        </p:nvSpPr>
        <p:spPr>
          <a:xfrm xmlns:a="http://schemas.openxmlformats.org/drawingml/2006/main">
            <a:off x="4524375" y="42672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3B35"/>
                </a:solidFill>
                <a:latin typeface="Helvetica Neue"/>
                <a:ea typeface="Helvetica Neue"/>
                <a:cs typeface="Helvetica Neue"/>
              </a:defRPr>
            </a:pPr>
            <a:r>
              <a:rPr sz="2400" b="1">
                <a:solidFill>
                  <a:srgbClr val="153B35"/>
                </a:solidFill>
                <a:latin typeface="Helvetica Neue"/>
                <a:ea typeface="Helvetica Neue"/>
                <a:cs typeface="Helvetica Neue"/>
              </a:rPr>
              <a:t>Bedrooms</a:t>
            </a:r>
          </a:p>
        </p:txBody>
      </p:sp>
      <p:sp>
        <p:nvSpPr>
          <p:cNvPr id="10" name="">
            <a:extLst xmlns:a="http://schemas.openxmlformats.org/drawingml/2006/main">
              <a:ext uri="{FF2B5EF4-FFF2-40B4-BE49-F238E27FC236}">
                <a16:creationId xmlns:a16="http://schemas.microsoft.com/office/drawing/2014/main" id="{DC4311D4-B07A-4A7A-9A73-5152B6164622}"/>
              </a:ext>
            </a:extLst>
          </p:cNvPr>
          <p:cNvSpPr>
            <a:spLocks xmlns:a="http://schemas.openxmlformats.org/drawingml/2006/main" noGrp="1"/>
          </p:cNvSpPr>
          <p:nvPr/>
        </p:nvSpPr>
        <p:spPr>
          <a:xfrm xmlns:a="http://schemas.openxmlformats.org/drawingml/2006/main">
            <a:off x="4524375" y="48768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A63"/>
                </a:solidFill>
                <a:latin typeface="Helvetica Neue"/>
                <a:ea typeface="Helvetica Neue"/>
                <a:cs typeface="Helvetica Neue"/>
              </a:defRPr>
            </a:pPr>
            <a:r>
              <a:rPr sz="1875" b="0">
                <a:solidFill>
                  <a:srgbClr val="556A63"/>
                </a:solidFill>
                <a:latin typeface="Helvetica Neue"/>
                <a:ea typeface="Helvetica Neue"/>
                <a:cs typeface="Helvetica Neue"/>
              </a:rPr>
              <a:t>Beds, wardrobes, storage</a:t>
            </a:r>
          </a:p>
          <a:p xmlns:a="http://schemas.openxmlformats.org/drawingml/2006/main">
            <a:pPr>
              <a:defRPr sz="1875" b="0">
                <a:solidFill>
                  <a:srgbClr val="556A63"/>
                </a:solidFill>
                <a:latin typeface="Helvetica Neue"/>
                <a:ea typeface="Helvetica Neue"/>
                <a:cs typeface="Helvetica Neue"/>
              </a:defRPr>
            </a:pPr>
            <a:r>
              <a:rPr sz="1875" b="0">
                <a:solidFill>
                  <a:srgbClr val="556A63"/>
                </a:solidFill>
                <a:latin typeface="Helvetica Neue"/>
                <a:ea typeface="Helvetica Neue"/>
                <a:cs typeface="Helvetica Neue"/>
              </a:rPr>
              <a:t>and lighting</a:t>
            </a:r>
          </a:p>
        </p:txBody>
      </p:sp>
      <p:sp>
        <p:nvSpPr>
          <p:cNvPr id="11" name="">
            <a:extLst xmlns:a="http://schemas.openxmlformats.org/drawingml/2006/main">
              <a:ext uri="{FF2B5EF4-FFF2-40B4-BE49-F238E27FC236}">
                <a16:creationId xmlns:a16="http://schemas.microsoft.com/office/drawing/2014/main" id="{1F9E20B7-30FD-4477-B2E0-85755B8B1A5D}"/>
              </a:ext>
            </a:extLst>
          </p:cNvPr>
          <p:cNvSpPr>
            <a:spLocks xmlns:a="http://schemas.openxmlformats.org/drawingml/2006/main" noGrp="1"/>
          </p:cNvSpPr>
          <p:nvPr/>
        </p:nvSpPr>
        <p:spPr>
          <a:xfrm xmlns:a="http://schemas.openxmlformats.org/drawingml/2006/main">
            <a:off x="8334375" y="4267200"/>
            <a:ext cx="3190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3B35"/>
                </a:solidFill>
                <a:latin typeface="Helvetica Neue"/>
                <a:ea typeface="Helvetica Neue"/>
                <a:cs typeface="Helvetica Neue"/>
              </a:defRPr>
            </a:pPr>
            <a:r>
              <a:rPr sz="2400" b="1">
                <a:solidFill>
                  <a:srgbClr val="153B35"/>
                </a:solidFill>
                <a:latin typeface="Helvetica Neue"/>
                <a:ea typeface="Helvetica Neue"/>
                <a:cs typeface="Helvetica Neue"/>
              </a:rPr>
              <a:t>Kitchens</a:t>
            </a:r>
          </a:p>
        </p:txBody>
      </p:sp>
      <p:sp>
        <p:nvSpPr>
          <p:cNvPr id="12" name="">
            <a:extLst xmlns:a="http://schemas.openxmlformats.org/drawingml/2006/main">
              <a:ext uri="{FF2B5EF4-FFF2-40B4-BE49-F238E27FC236}">
                <a16:creationId xmlns:a16="http://schemas.microsoft.com/office/drawing/2014/main" id="{B302EEA4-1024-477B-92E4-30DF8259526D}"/>
              </a:ext>
            </a:extLst>
          </p:cNvPr>
          <p:cNvSpPr>
            <a:spLocks xmlns:a="http://schemas.openxmlformats.org/drawingml/2006/main" noGrp="1"/>
          </p:cNvSpPr>
          <p:nvPr/>
        </p:nvSpPr>
        <p:spPr>
          <a:xfrm xmlns:a="http://schemas.openxmlformats.org/drawingml/2006/main">
            <a:off x="8334375" y="4876800"/>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A63"/>
                </a:solidFill>
                <a:latin typeface="Helvetica Neue"/>
                <a:ea typeface="Helvetica Neue"/>
                <a:cs typeface="Helvetica Neue"/>
              </a:defRPr>
            </a:pPr>
            <a:r>
              <a:rPr sz="1875" b="0">
                <a:solidFill>
                  <a:srgbClr val="556A63"/>
                </a:solidFill>
                <a:latin typeface="Helvetica Neue"/>
                <a:ea typeface="Helvetica Neue"/>
                <a:cs typeface="Helvetica Neue"/>
              </a:rPr>
              <a:t>Cabinets, worktops,</a:t>
            </a:r>
          </a:p>
          <a:p xmlns:a="http://schemas.openxmlformats.org/drawingml/2006/main">
            <a:pPr>
              <a:defRPr sz="1875" b="0">
                <a:solidFill>
                  <a:srgbClr val="556A63"/>
                </a:solidFill>
                <a:latin typeface="Helvetica Neue"/>
                <a:ea typeface="Helvetica Neue"/>
                <a:cs typeface="Helvetica Neue"/>
              </a:defRPr>
            </a:pPr>
            <a:r>
              <a:rPr sz="1875" b="0">
                <a:solidFill>
                  <a:srgbClr val="556A63"/>
                </a:solidFill>
                <a:latin typeface="Helvetica Neue"/>
                <a:ea typeface="Helvetica Neue"/>
                <a:cs typeface="Helvetica Neue"/>
              </a:rPr>
              <a:t>fittings and appliances</a:t>
            </a:r>
          </a:p>
        </p:txBody>
      </p:sp>
    </p:spTree>
    <p:extLst>
      <p:ext uri="{BB962C8B-B14F-4D97-AF65-F5344CB8AC3E}">
        <p14:creationId xmlns:p14="http://schemas.microsoft.com/office/powerpoint/2010/main" val="34360139"/>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011BD6-1400-47A2-89BD-5AA92B76CB91}"/>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3B35"/>
                </a:solidFill>
                <a:latin typeface="Helvetica Neue"/>
                <a:ea typeface="Helvetica Neue"/>
                <a:cs typeface="Helvetica Neue"/>
              </a:defRPr>
            </a:pPr>
            <a:r>
              <a:rPr sz="3450" b="1">
                <a:solidFill>
                  <a:srgbClr val="153B35"/>
                </a:solidFill>
                <a:latin typeface="Helvetica Neue"/>
                <a:ea typeface="Helvetica Neue"/>
                <a:cs typeface="Helvetica Neue"/>
              </a:rPr>
              <a:t>The customer journey</a:t>
            </a:r>
          </a:p>
        </p:txBody>
      </p:sp>
      <p:sp>
        <p:nvSpPr>
          <p:cNvPr id="2" name="">
            <a:extLst xmlns:a="http://schemas.openxmlformats.org/drawingml/2006/main">
              <a:ext uri="{FF2B5EF4-FFF2-40B4-BE49-F238E27FC236}">
                <a16:creationId xmlns:a16="http://schemas.microsoft.com/office/drawing/2014/main" id="{6B72A904-490E-47B6-97D3-FDC1FD9AAFDE}"/>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2A9BA8FA-60FD-4CDF-90CE-2125621C3B7F}"/>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13E5DD0A-DF88-4E45-B737-A9DBB9DC69BF}"/>
              </a:ext>
            </a:extLst>
          </p:cNvPr>
          <p:cNvSpPr>
            <a:spLocks xmlns:a="http://schemas.openxmlformats.org/drawingml/2006/main" noGrp="1"/>
          </p:cNvSpPr>
          <p:nvPr/>
        </p:nvSpPr>
        <p:spPr>
          <a:xfrm xmlns:a="http://schemas.openxmlformats.org/drawingml/2006/main">
            <a:off x="704850" y="1981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01  Create the plan</a:t>
            </a:r>
          </a:p>
        </p:txBody>
      </p:sp>
      <p:sp>
        <p:nvSpPr>
          <p:cNvPr id="5" name="">
            <a:extLst xmlns:a="http://schemas.openxmlformats.org/drawingml/2006/main">
              <a:ext uri="{FF2B5EF4-FFF2-40B4-BE49-F238E27FC236}">
                <a16:creationId xmlns:a16="http://schemas.microsoft.com/office/drawing/2014/main" id="{BD78A942-A74A-4D0D-8179-BFB9FDA72A11}"/>
              </a:ext>
            </a:extLst>
          </p:cNvPr>
          <p:cNvSpPr>
            <a:spLocks xmlns:a="http://schemas.openxmlformats.org/drawingml/2006/main" noGrp="1"/>
          </p:cNvSpPr>
          <p:nvPr/>
        </p:nvSpPr>
        <p:spPr>
          <a:xfrm xmlns:a="http://schemas.openxmlformats.org/drawingml/2006/main">
            <a:off x="4095750" y="198120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Draw rooms or import a supported floor plan, then check dimensions.</a:t>
            </a:r>
          </a:p>
        </p:txBody>
      </p:sp>
      <p:sp>
        <p:nvSpPr>
          <p:cNvPr id="6" name="">
            <a:extLst xmlns:a="http://schemas.openxmlformats.org/drawingml/2006/main">
              <a:ext uri="{FF2B5EF4-FFF2-40B4-BE49-F238E27FC236}">
                <a16:creationId xmlns:a16="http://schemas.microsoft.com/office/drawing/2014/main" id="{8E0B7F2B-0118-46AA-83C6-C58DB32D2845}"/>
              </a:ext>
            </a:extLst>
          </p:cNvPr>
          <p:cNvSpPr>
            <a:spLocks xmlns:a="http://schemas.openxmlformats.org/drawingml/2006/main" noGrp="1"/>
          </p:cNvSpPr>
          <p:nvPr/>
        </p:nvSpPr>
        <p:spPr>
          <a:xfrm xmlns:a="http://schemas.openxmlformats.org/drawingml/2006/main">
            <a:off x="704850" y="29622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02  Design the space</a:t>
            </a:r>
          </a:p>
        </p:txBody>
      </p:sp>
      <p:sp>
        <p:nvSpPr>
          <p:cNvPr id="7" name="">
            <a:extLst xmlns:a="http://schemas.openxmlformats.org/drawingml/2006/main">
              <a:ext uri="{FF2B5EF4-FFF2-40B4-BE49-F238E27FC236}">
                <a16:creationId xmlns:a16="http://schemas.microsoft.com/office/drawing/2014/main" id="{53ABE01B-6B01-4888-BC98-6205DDD610F2}"/>
              </a:ext>
            </a:extLst>
          </p:cNvPr>
          <p:cNvSpPr>
            <a:spLocks xmlns:a="http://schemas.openxmlformats.org/drawingml/2006/main" noGrp="1"/>
          </p:cNvSpPr>
          <p:nvPr/>
        </p:nvSpPr>
        <p:spPr>
          <a:xfrm xmlns:a="http://schemas.openxmlformats.org/drawingml/2006/main">
            <a:off x="4095750" y="296227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Place furniture and millwork. Choose finishes and lights.</a:t>
            </a:r>
          </a:p>
        </p:txBody>
      </p:sp>
      <p:sp>
        <p:nvSpPr>
          <p:cNvPr id="8" name="">
            <a:extLst xmlns:a="http://schemas.openxmlformats.org/drawingml/2006/main">
              <a:ext uri="{FF2B5EF4-FFF2-40B4-BE49-F238E27FC236}">
                <a16:creationId xmlns:a16="http://schemas.microsoft.com/office/drawing/2014/main" id="{99566DE5-4D96-430A-A070-1C1BE1DBF208}"/>
              </a:ext>
            </a:extLst>
          </p:cNvPr>
          <p:cNvSpPr>
            <a:spLocks xmlns:a="http://schemas.openxmlformats.org/drawingml/2006/main" noGrp="1"/>
          </p:cNvSpPr>
          <p:nvPr/>
        </p:nvSpPr>
        <p:spPr>
          <a:xfrm xmlns:a="http://schemas.openxmlformats.org/drawingml/2006/main">
            <a:off x="704850" y="39433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03  Review in 3D</a:t>
            </a:r>
          </a:p>
        </p:txBody>
      </p:sp>
      <p:sp>
        <p:nvSpPr>
          <p:cNvPr id="9" name="">
            <a:extLst xmlns:a="http://schemas.openxmlformats.org/drawingml/2006/main">
              <a:ext uri="{FF2B5EF4-FFF2-40B4-BE49-F238E27FC236}">
                <a16:creationId xmlns:a16="http://schemas.microsoft.com/office/drawing/2014/main" id="{A319D0D6-637F-49E3-B595-85A0848742E8}"/>
              </a:ext>
            </a:extLst>
          </p:cNvPr>
          <p:cNvSpPr>
            <a:spLocks xmlns:a="http://schemas.openxmlformats.org/drawingml/2006/main" noGrp="1"/>
          </p:cNvSpPr>
          <p:nvPr/>
        </p:nvSpPr>
        <p:spPr>
          <a:xfrm xmlns:a="http://schemas.openxmlformats.org/drawingml/2006/main">
            <a:off x="4095750" y="394335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Show the client the layout and make agreed changes.</a:t>
            </a:r>
          </a:p>
        </p:txBody>
      </p:sp>
      <p:sp>
        <p:nvSpPr>
          <p:cNvPr id="10" name="">
            <a:extLst xmlns:a="http://schemas.openxmlformats.org/drawingml/2006/main">
              <a:ext uri="{FF2B5EF4-FFF2-40B4-BE49-F238E27FC236}">
                <a16:creationId xmlns:a16="http://schemas.microsoft.com/office/drawing/2014/main" id="{64338350-8F13-4C9C-9E22-FC004743FBAF}"/>
              </a:ext>
            </a:extLst>
          </p:cNvPr>
          <p:cNvSpPr>
            <a:spLocks xmlns:a="http://schemas.openxmlformats.org/drawingml/2006/main" noGrp="1"/>
          </p:cNvSpPr>
          <p:nvPr/>
        </p:nvSpPr>
        <p:spPr>
          <a:xfrm xmlns:a="http://schemas.openxmlformats.org/drawingml/2006/main">
            <a:off x="704850" y="49244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04  Prepare the proposal</a:t>
            </a:r>
          </a:p>
        </p:txBody>
      </p:sp>
      <p:sp>
        <p:nvSpPr>
          <p:cNvPr id="11" name="">
            <a:extLst xmlns:a="http://schemas.openxmlformats.org/drawingml/2006/main">
              <a:ext uri="{FF2B5EF4-FFF2-40B4-BE49-F238E27FC236}">
                <a16:creationId xmlns:a16="http://schemas.microsoft.com/office/drawing/2014/main" id="{6C115AB5-9219-424F-8074-29E1A15882EE}"/>
              </a:ext>
            </a:extLst>
          </p:cNvPr>
          <p:cNvSpPr>
            <a:spLocks xmlns:a="http://schemas.openxmlformats.org/drawingml/2006/main" noGrp="1"/>
          </p:cNvSpPr>
          <p:nvPr/>
        </p:nvSpPr>
        <p:spPr>
          <a:xfrm xmlns:a="http://schemas.openxmlformats.org/drawingml/2006/main">
            <a:off x="4095750" y="492442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Check quantities and rates, then save an issued quote.</a:t>
            </a:r>
          </a:p>
        </p:txBody>
      </p:sp>
    </p:spTree>
    <p:extLst>
      <p:ext uri="{BB962C8B-B14F-4D97-AF65-F5344CB8AC3E}">
        <p14:creationId xmlns:p14="http://schemas.microsoft.com/office/powerpoint/2010/main" val="916959179"/>
      </p:ext>
    </p:extLst>
  </p:cSld>
</p:sld>
</file>

<file path=ppt/slides/slide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03F12B-F373-4F47-B565-2C91DD91A5CE}"/>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3B35"/>
                </a:solidFill>
                <a:latin typeface="Helvetica Neue"/>
                <a:ea typeface="Helvetica Neue"/>
                <a:cs typeface="Helvetica Neue"/>
              </a:defRPr>
            </a:pPr>
            <a:r>
              <a:rPr sz="3450" b="1">
                <a:solidFill>
                  <a:srgbClr val="153B35"/>
                </a:solidFill>
                <a:latin typeface="Helvetica Neue"/>
                <a:ea typeface="Helvetica Neue"/>
                <a:cs typeface="Helvetica Neue"/>
              </a:rPr>
              <a:t>2D floor plan to editable 3D</a:t>
            </a:r>
          </a:p>
        </p:txBody>
      </p:sp>
      <p:sp>
        <p:nvSpPr>
          <p:cNvPr id="2" name="">
            <a:extLst xmlns:a="http://schemas.openxmlformats.org/drawingml/2006/main">
              <a:ext uri="{FF2B5EF4-FFF2-40B4-BE49-F238E27FC236}">
                <a16:creationId xmlns:a16="http://schemas.microsoft.com/office/drawing/2014/main" id="{7452BC6A-1C0B-43DB-9865-0C0996B5AAA9}"/>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5F92390D-41D1-4888-B5C1-514143DB6BDA}"/>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CE403BE6-35C7-4EC3-810F-9C799AE40D09}"/>
              </a:ext>
            </a:extLst>
          </p:cNvPr>
          <p:cNvSpPr>
            <a:spLocks xmlns:a="http://schemas.openxmlformats.org/drawingml/2006/main" noGrp="1"/>
          </p:cNvSpPr>
          <p:nvPr/>
        </p:nvSpPr>
        <p:spPr>
          <a:xfrm xmlns:a="http://schemas.openxmlformats.org/drawingml/2006/main">
            <a:off x="685800" y="19526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53B35"/>
                </a:solidFill>
                <a:latin typeface="Helvetica Neue"/>
                <a:ea typeface="Helvetica Neue"/>
                <a:cs typeface="Helvetica Neue"/>
              </a:defRPr>
            </a:pPr>
            <a:r>
              <a:rPr sz="4275" b="1">
                <a:solidFill>
                  <a:srgbClr val="153B35"/>
                </a:solidFill>
                <a:latin typeface="Helvetica Neue"/>
                <a:ea typeface="Helvetica Neue"/>
                <a:cs typeface="Helvetica Neue"/>
              </a:rPr>
              <a:t>Upload. Check. Apply.</a:t>
            </a:r>
          </a:p>
        </p:txBody>
      </p:sp>
      <p:sp>
        <p:nvSpPr>
          <p:cNvPr id="5" name="">
            <a:extLst xmlns:a="http://schemas.openxmlformats.org/drawingml/2006/main">
              <a:ext uri="{FF2B5EF4-FFF2-40B4-BE49-F238E27FC236}">
                <a16:creationId xmlns:a16="http://schemas.microsoft.com/office/drawing/2014/main" id="{05766BD9-7A80-4A56-952D-9AEFD9C39F81}"/>
              </a:ext>
            </a:extLst>
          </p:cNvPr>
          <p:cNvSpPr>
            <a:spLocks xmlns:a="http://schemas.openxmlformats.org/drawingml/2006/main" noGrp="1"/>
          </p:cNvSpPr>
          <p:nvPr/>
        </p:nvSpPr>
        <p:spPr>
          <a:xfrm xmlns:a="http://schemas.openxmlformats.org/drawingml/2006/main">
            <a:off x="704850" y="30480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Import the plan</a:t>
            </a:r>
          </a:p>
        </p:txBody>
      </p:sp>
      <p:sp>
        <p:nvSpPr>
          <p:cNvPr id="6" name="">
            <a:extLst xmlns:a="http://schemas.openxmlformats.org/drawingml/2006/main">
              <a:ext uri="{FF2B5EF4-FFF2-40B4-BE49-F238E27FC236}">
                <a16:creationId xmlns:a16="http://schemas.microsoft.com/office/drawing/2014/main" id="{532E7A5C-8481-45F4-805D-29F54A210369}"/>
              </a:ext>
            </a:extLst>
          </p:cNvPr>
          <p:cNvSpPr>
            <a:spLocks xmlns:a="http://schemas.openxmlformats.org/drawingml/2006/main" noGrp="1"/>
          </p:cNvSpPr>
          <p:nvPr/>
        </p:nvSpPr>
        <p:spPr>
          <a:xfrm xmlns:a="http://schemas.openxmlformats.org/drawingml/2006/main">
            <a:off x="4095750" y="304800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The service identifies room and wall geometry from supported inputs.</a:t>
            </a:r>
          </a:p>
        </p:txBody>
      </p:sp>
      <p:sp>
        <p:nvSpPr>
          <p:cNvPr id="7" name="">
            <a:extLst xmlns:a="http://schemas.openxmlformats.org/drawingml/2006/main">
              <a:ext uri="{FF2B5EF4-FFF2-40B4-BE49-F238E27FC236}">
                <a16:creationId xmlns:a16="http://schemas.microsoft.com/office/drawing/2014/main" id="{9EBBBCD8-04F2-449B-B1BA-97321924F1A0}"/>
              </a:ext>
            </a:extLst>
          </p:cNvPr>
          <p:cNvSpPr>
            <a:spLocks xmlns:a="http://schemas.openxmlformats.org/drawingml/2006/main" noGrp="1"/>
          </p:cNvSpPr>
          <p:nvPr/>
        </p:nvSpPr>
        <p:spPr>
          <a:xfrm xmlns:a="http://schemas.openxmlformats.org/drawingml/2006/main">
            <a:off x="704850" y="40290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Confirm the result</a:t>
            </a:r>
          </a:p>
        </p:txBody>
      </p:sp>
      <p:sp>
        <p:nvSpPr>
          <p:cNvPr id="8" name="">
            <a:extLst xmlns:a="http://schemas.openxmlformats.org/drawingml/2006/main">
              <a:ext uri="{FF2B5EF4-FFF2-40B4-BE49-F238E27FC236}">
                <a16:creationId xmlns:a16="http://schemas.microsoft.com/office/drawing/2014/main" id="{B507A73D-1702-4324-B25E-3A9BA5F93637}"/>
              </a:ext>
            </a:extLst>
          </p:cNvPr>
          <p:cNvSpPr>
            <a:spLocks xmlns:a="http://schemas.openxmlformats.org/drawingml/2006/main" noGrp="1"/>
          </p:cNvSpPr>
          <p:nvPr/>
        </p:nvSpPr>
        <p:spPr>
          <a:xfrm xmlns:a="http://schemas.openxmlformats.org/drawingml/2006/main">
            <a:off x="4095750" y="402907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Review the overlay, correct problems and confirm the scale.</a:t>
            </a:r>
          </a:p>
        </p:txBody>
      </p:sp>
      <p:sp>
        <p:nvSpPr>
          <p:cNvPr id="9" name="">
            <a:extLst xmlns:a="http://schemas.openxmlformats.org/drawingml/2006/main">
              <a:ext uri="{FF2B5EF4-FFF2-40B4-BE49-F238E27FC236}">
                <a16:creationId xmlns:a16="http://schemas.microsoft.com/office/drawing/2014/main" id="{6E202AFE-C480-43DF-94EE-009E1C93148B}"/>
              </a:ext>
            </a:extLst>
          </p:cNvPr>
          <p:cNvSpPr>
            <a:spLocks xmlns:a="http://schemas.openxmlformats.org/drawingml/2006/main" noGrp="1"/>
          </p:cNvSpPr>
          <p:nvPr/>
        </p:nvSpPr>
        <p:spPr>
          <a:xfrm xmlns:a="http://schemas.openxmlformats.org/drawingml/2006/main">
            <a:off x="704850" y="50101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Continue designing</a:t>
            </a:r>
          </a:p>
        </p:txBody>
      </p:sp>
      <p:sp>
        <p:nvSpPr>
          <p:cNvPr id="10" name="">
            <a:extLst xmlns:a="http://schemas.openxmlformats.org/drawingml/2006/main">
              <a:ext uri="{FF2B5EF4-FFF2-40B4-BE49-F238E27FC236}">
                <a16:creationId xmlns:a16="http://schemas.microsoft.com/office/drawing/2014/main" id="{BC6A4BD3-643B-44D2-8D3A-F855726983C5}"/>
              </a:ext>
            </a:extLst>
          </p:cNvPr>
          <p:cNvSpPr>
            <a:spLocks xmlns:a="http://schemas.openxmlformats.org/drawingml/2006/main" noGrp="1"/>
          </p:cNvSpPr>
          <p:nvPr/>
        </p:nvSpPr>
        <p:spPr>
          <a:xfrm xmlns:a="http://schemas.openxmlformats.org/drawingml/2006/main">
            <a:off x="4095750" y="501015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Apply the checked geometry, then furnish and review it in 3D.</a:t>
            </a:r>
          </a:p>
        </p:txBody>
      </p:sp>
      <p:sp>
        <p:nvSpPr>
          <p:cNvPr id="11" name="">
            <a:extLst xmlns:a="http://schemas.openxmlformats.org/drawingml/2006/main">
              <a:ext uri="{FF2B5EF4-FFF2-40B4-BE49-F238E27FC236}">
                <a16:creationId xmlns:a16="http://schemas.microsoft.com/office/drawing/2014/main" id="{F4517A22-80BC-4D33-89B1-B94FA4BF3C91}"/>
              </a:ext>
            </a:extLst>
          </p:cNvPr>
          <p:cNvSpPr>
            <a:spLocks xmlns:a="http://schemas.openxmlformats.org/drawingml/2006/main" noGrp="1"/>
          </p:cNvSpPr>
          <p:nvPr/>
        </p:nvSpPr>
        <p:spPr>
          <a:xfrm xmlns:a="http://schemas.openxmlformats.org/drawingml/2006/main">
            <a:off x="685800" y="58769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6A63"/>
                </a:solidFill>
                <a:latin typeface="Helvetica Neue"/>
                <a:ea typeface="Helvetica Neue"/>
                <a:cs typeface="Helvetica Neue"/>
              </a:defRPr>
            </a:pPr>
            <a:r>
              <a:rPr sz="1650" b="0">
                <a:solidFill>
                  <a:srgbClr val="556A63"/>
                </a:solidFill>
                <a:latin typeface="Helvetica Neue"/>
                <a:ea typeface="Helvetica Neue"/>
                <a:cs typeface="Helvetica Neue"/>
              </a:rPr>
              <a:t>The user reviews the result before it changes the project.</a:t>
            </a:r>
          </a:p>
        </p:txBody>
      </p:sp>
    </p:spTree>
    <p:extLst>
      <p:ext uri="{BB962C8B-B14F-4D97-AF65-F5344CB8AC3E}">
        <p14:creationId xmlns:p14="http://schemas.microsoft.com/office/powerpoint/2010/main" val="543437097"/>
      </p:ext>
    </p:extLst>
  </p:cSld>
</p:sld>
</file>

<file path=ppt/slides/slide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8DE29C6-F85A-49F1-AEDD-F2B60A5D6844}"/>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3B35"/>
                </a:solidFill>
                <a:latin typeface="Helvetica Neue"/>
                <a:ea typeface="Helvetica Neue"/>
                <a:cs typeface="Helvetica Neue"/>
              </a:defRPr>
            </a:pPr>
            <a:r>
              <a:rPr sz="3450" b="1">
                <a:solidFill>
                  <a:srgbClr val="153B35"/>
                </a:solidFill>
                <a:latin typeface="Helvetica Neue"/>
                <a:ea typeface="Helvetica Neue"/>
                <a:cs typeface="Helvetica Neue"/>
              </a:rPr>
              <a:t>Costing with the customer’s own rates</a:t>
            </a:r>
          </a:p>
        </p:txBody>
      </p:sp>
      <p:sp>
        <p:nvSpPr>
          <p:cNvPr id="2" name="">
            <a:extLst xmlns:a="http://schemas.openxmlformats.org/drawingml/2006/main">
              <a:ext uri="{FF2B5EF4-FFF2-40B4-BE49-F238E27FC236}">
                <a16:creationId xmlns:a16="http://schemas.microsoft.com/office/drawing/2014/main" id="{431A7AFC-2DBD-4452-B489-EEC892897021}"/>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828DE432-4456-421F-9431-44D8CAE1F63A}"/>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EBFE5E0A-F895-4B4A-97BA-882A66C0606B}"/>
              </a:ext>
            </a:extLst>
          </p:cNvPr>
          <p:cNvSpPr>
            <a:spLocks xmlns:a="http://schemas.openxmlformats.org/drawingml/2006/main" noGrp="1"/>
          </p:cNvSpPr>
          <p:nvPr/>
        </p:nvSpPr>
        <p:spPr>
          <a:xfrm xmlns:a="http://schemas.openxmlformats.org/drawingml/2006/main">
            <a:off x="704850" y="1981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Design quantities</a:t>
            </a:r>
          </a:p>
        </p:txBody>
      </p:sp>
      <p:sp>
        <p:nvSpPr>
          <p:cNvPr id="5" name="">
            <a:extLst xmlns:a="http://schemas.openxmlformats.org/drawingml/2006/main">
              <a:ext uri="{FF2B5EF4-FFF2-40B4-BE49-F238E27FC236}">
                <a16:creationId xmlns:a16="http://schemas.microsoft.com/office/drawing/2014/main" id="{7225E220-0546-4782-9C91-4C6B873FF105}"/>
              </a:ext>
            </a:extLst>
          </p:cNvPr>
          <p:cNvSpPr>
            <a:spLocks xmlns:a="http://schemas.openxmlformats.org/drawingml/2006/main" noGrp="1"/>
          </p:cNvSpPr>
          <p:nvPr/>
        </p:nvSpPr>
        <p:spPr>
          <a:xfrm xmlns:a="http://schemas.openxmlformats.org/drawingml/2006/main">
            <a:off x="4095750" y="198120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Measure supported surfaces, furniture, fixtures and cabinet components.</a:t>
            </a:r>
          </a:p>
        </p:txBody>
      </p:sp>
      <p:sp>
        <p:nvSpPr>
          <p:cNvPr id="6" name="">
            <a:extLst xmlns:a="http://schemas.openxmlformats.org/drawingml/2006/main">
              <a:ext uri="{FF2B5EF4-FFF2-40B4-BE49-F238E27FC236}">
                <a16:creationId xmlns:a16="http://schemas.microsoft.com/office/drawing/2014/main" id="{B159D37A-7C94-4CA2-A797-70157C189B2E}"/>
              </a:ext>
            </a:extLst>
          </p:cNvPr>
          <p:cNvSpPr>
            <a:spLocks xmlns:a="http://schemas.openxmlformats.org/drawingml/2006/main" noGrp="1"/>
          </p:cNvSpPr>
          <p:nvPr/>
        </p:nvSpPr>
        <p:spPr>
          <a:xfrm xmlns:a="http://schemas.openxmlformats.org/drawingml/2006/main">
            <a:off x="704850" y="29622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Editable price book</a:t>
            </a:r>
          </a:p>
        </p:txBody>
      </p:sp>
      <p:sp>
        <p:nvSpPr>
          <p:cNvPr id="7" name="">
            <a:extLst xmlns:a="http://schemas.openxmlformats.org/drawingml/2006/main">
              <a:ext uri="{FF2B5EF4-FFF2-40B4-BE49-F238E27FC236}">
                <a16:creationId xmlns:a16="http://schemas.microsoft.com/office/drawing/2014/main" id="{D87876F3-B1CA-4168-A872-23B9BB6674B7}"/>
              </a:ext>
            </a:extLst>
          </p:cNvPr>
          <p:cNvSpPr>
            <a:spLocks xmlns:a="http://schemas.openxmlformats.org/drawingml/2006/main" noGrp="1"/>
          </p:cNvSpPr>
          <p:nvPr/>
        </p:nvSpPr>
        <p:spPr>
          <a:xfrm xmlns:a="http://schemas.openxmlformats.org/drawingml/2006/main">
            <a:off x="4095750" y="296227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The customer enters material, fitting and labour rates.</a:t>
            </a:r>
          </a:p>
        </p:txBody>
      </p:sp>
      <p:sp>
        <p:nvSpPr>
          <p:cNvPr id="8" name="">
            <a:extLst xmlns:a="http://schemas.openxmlformats.org/drawingml/2006/main">
              <a:ext uri="{FF2B5EF4-FFF2-40B4-BE49-F238E27FC236}">
                <a16:creationId xmlns:a16="http://schemas.microsoft.com/office/drawing/2014/main" id="{6B811CB3-D27A-4358-946D-8DF7FAAEF2BA}"/>
              </a:ext>
            </a:extLst>
          </p:cNvPr>
          <p:cNvSpPr>
            <a:spLocks xmlns:a="http://schemas.openxmlformats.org/drawingml/2006/main" noGrp="1"/>
          </p:cNvSpPr>
          <p:nvPr/>
        </p:nvSpPr>
        <p:spPr>
          <a:xfrm xmlns:a="http://schemas.openxmlformats.org/drawingml/2006/main">
            <a:off x="704850" y="39433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Quote settings</a:t>
            </a:r>
          </a:p>
        </p:txBody>
      </p:sp>
      <p:sp>
        <p:nvSpPr>
          <p:cNvPr id="9" name="">
            <a:extLst xmlns:a="http://schemas.openxmlformats.org/drawingml/2006/main">
              <a:ext uri="{FF2B5EF4-FFF2-40B4-BE49-F238E27FC236}">
                <a16:creationId xmlns:a16="http://schemas.microsoft.com/office/drawing/2014/main" id="{371A77F1-F4D2-49EB-B38F-7C79A7694DB6}"/>
              </a:ext>
            </a:extLst>
          </p:cNvPr>
          <p:cNvSpPr>
            <a:spLocks xmlns:a="http://schemas.openxmlformats.org/drawingml/2006/main" noGrp="1"/>
          </p:cNvSpPr>
          <p:nvPr/>
        </p:nvSpPr>
        <p:spPr>
          <a:xfrm xmlns:a="http://schemas.openxmlformats.org/drawingml/2006/main">
            <a:off x="4095750" y="394335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Add the customer’s markup, discounts and taxes.</a:t>
            </a:r>
          </a:p>
        </p:txBody>
      </p:sp>
      <p:sp>
        <p:nvSpPr>
          <p:cNvPr id="10" name="">
            <a:extLst xmlns:a="http://schemas.openxmlformats.org/drawingml/2006/main">
              <a:ext uri="{FF2B5EF4-FFF2-40B4-BE49-F238E27FC236}">
                <a16:creationId xmlns:a16="http://schemas.microsoft.com/office/drawing/2014/main" id="{7394604E-D002-4B3D-A14D-87AFDCDD6B90}"/>
              </a:ext>
            </a:extLst>
          </p:cNvPr>
          <p:cNvSpPr>
            <a:spLocks xmlns:a="http://schemas.openxmlformats.org/drawingml/2006/main" noGrp="1"/>
          </p:cNvSpPr>
          <p:nvPr/>
        </p:nvSpPr>
        <p:spPr>
          <a:xfrm xmlns:a="http://schemas.openxmlformats.org/drawingml/2006/main">
            <a:off x="704850" y="49244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Clear cost list</a:t>
            </a:r>
          </a:p>
        </p:txBody>
      </p:sp>
      <p:sp>
        <p:nvSpPr>
          <p:cNvPr id="11" name="">
            <a:extLst xmlns:a="http://schemas.openxmlformats.org/drawingml/2006/main">
              <a:ext uri="{FF2B5EF4-FFF2-40B4-BE49-F238E27FC236}">
                <a16:creationId xmlns:a16="http://schemas.microsoft.com/office/drawing/2014/main" id="{F0BE1075-CF2A-4AE8-A898-AD74F585FF46}"/>
              </a:ext>
            </a:extLst>
          </p:cNvPr>
          <p:cNvSpPr>
            <a:spLocks xmlns:a="http://schemas.openxmlformats.org/drawingml/2006/main" noGrp="1"/>
          </p:cNvSpPr>
          <p:nvPr/>
        </p:nvSpPr>
        <p:spPr>
          <a:xfrm xmlns:a="http://schemas.openxmlformats.org/drawingml/2006/main">
            <a:off x="4095750" y="492442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Show quantities and totals so the customer can review the quote.</a:t>
            </a:r>
          </a:p>
        </p:txBody>
      </p:sp>
    </p:spTree>
    <p:extLst>
      <p:ext uri="{BB962C8B-B14F-4D97-AF65-F5344CB8AC3E}">
        <p14:creationId xmlns:p14="http://schemas.microsoft.com/office/powerpoint/2010/main" val="603086954"/>
      </p:ext>
    </p:extLst>
  </p:cSld>
</p:sld>
</file>

<file path=ppt/slides/slide8.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A7AE6A8-7FCE-44AA-A528-8FE9A659850C}"/>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3B35"/>
                </a:solidFill>
                <a:latin typeface="Helvetica Neue"/>
                <a:ea typeface="Helvetica Neue"/>
                <a:cs typeface="Helvetica Neue"/>
              </a:defRPr>
            </a:pPr>
            <a:r>
              <a:rPr sz="3450" b="1">
                <a:solidFill>
                  <a:srgbClr val="153B35"/>
                </a:solidFill>
                <a:latin typeface="Helvetica Neue"/>
                <a:ea typeface="Helvetica Neue"/>
                <a:cs typeface="Helvetica Neue"/>
              </a:rPr>
              <a:t>What the customer takes away</a:t>
            </a:r>
          </a:p>
        </p:txBody>
      </p:sp>
      <p:sp>
        <p:nvSpPr>
          <p:cNvPr id="2" name="">
            <a:extLst xmlns:a="http://schemas.openxmlformats.org/drawingml/2006/main">
              <a:ext uri="{FF2B5EF4-FFF2-40B4-BE49-F238E27FC236}">
                <a16:creationId xmlns:a16="http://schemas.microsoft.com/office/drawing/2014/main" id="{250461FA-5051-4AFC-B506-320D5655A7A6}"/>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D568A011-C167-430B-8FE8-CF6ABFC35772}"/>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CBDB8173-84D7-4900-8C24-23C522098258}"/>
              </a:ext>
            </a:extLst>
          </p:cNvPr>
          <p:cNvSpPr>
            <a:spLocks xmlns:a="http://schemas.openxmlformats.org/drawingml/2006/main" noGrp="1"/>
          </p:cNvSpPr>
          <p:nvPr/>
        </p:nvSpPr>
        <p:spPr>
          <a:xfrm xmlns:a="http://schemas.openxmlformats.org/drawingml/2006/main">
            <a:off x="704850" y="1981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A saved design</a:t>
            </a:r>
          </a:p>
        </p:txBody>
      </p:sp>
      <p:sp>
        <p:nvSpPr>
          <p:cNvPr id="5" name="">
            <a:extLst xmlns:a="http://schemas.openxmlformats.org/drawingml/2006/main">
              <a:ext uri="{FF2B5EF4-FFF2-40B4-BE49-F238E27FC236}">
                <a16:creationId xmlns:a16="http://schemas.microsoft.com/office/drawing/2014/main" id="{4AC03A68-5B38-4312-8D9A-6803A0B07808}"/>
              </a:ext>
            </a:extLst>
          </p:cNvPr>
          <p:cNvSpPr>
            <a:spLocks xmlns:a="http://schemas.openxmlformats.org/drawingml/2006/main" noGrp="1"/>
          </p:cNvSpPr>
          <p:nvPr/>
        </p:nvSpPr>
        <p:spPr>
          <a:xfrm xmlns:a="http://schemas.openxmlformats.org/drawingml/2006/main">
            <a:off x="4095750" y="198120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Room layouts, selected items and the project details.</a:t>
            </a:r>
          </a:p>
        </p:txBody>
      </p:sp>
      <p:sp>
        <p:nvSpPr>
          <p:cNvPr id="6" name="">
            <a:extLst xmlns:a="http://schemas.openxmlformats.org/drawingml/2006/main">
              <a:ext uri="{FF2B5EF4-FFF2-40B4-BE49-F238E27FC236}">
                <a16:creationId xmlns:a16="http://schemas.microsoft.com/office/drawing/2014/main" id="{71F54CB0-A5F8-4629-B7F1-90C61FBEB738}"/>
              </a:ext>
            </a:extLst>
          </p:cNvPr>
          <p:cNvSpPr>
            <a:spLocks xmlns:a="http://schemas.openxmlformats.org/drawingml/2006/main" noGrp="1"/>
          </p:cNvSpPr>
          <p:nvPr/>
        </p:nvSpPr>
        <p:spPr>
          <a:xfrm xmlns:a="http://schemas.openxmlformats.org/drawingml/2006/main">
            <a:off x="704850" y="29622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A 3D presentation</a:t>
            </a:r>
          </a:p>
        </p:txBody>
      </p:sp>
      <p:sp>
        <p:nvSpPr>
          <p:cNvPr id="7" name="">
            <a:extLst xmlns:a="http://schemas.openxmlformats.org/drawingml/2006/main">
              <a:ext uri="{FF2B5EF4-FFF2-40B4-BE49-F238E27FC236}">
                <a16:creationId xmlns:a16="http://schemas.microsoft.com/office/drawing/2014/main" id="{BD29C949-2122-4750-B3D6-BECF119CDE16}"/>
              </a:ext>
            </a:extLst>
          </p:cNvPr>
          <p:cNvSpPr>
            <a:spLocks xmlns:a="http://schemas.openxmlformats.org/drawingml/2006/main" noGrp="1"/>
          </p:cNvSpPr>
          <p:nvPr/>
        </p:nvSpPr>
        <p:spPr>
          <a:xfrm xmlns:a="http://schemas.openxmlformats.org/drawingml/2006/main">
            <a:off x="4095750" y="296227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A view that helps the client understand the proposed space.</a:t>
            </a:r>
          </a:p>
        </p:txBody>
      </p:sp>
      <p:sp>
        <p:nvSpPr>
          <p:cNvPr id="8" name="">
            <a:extLst xmlns:a="http://schemas.openxmlformats.org/drawingml/2006/main">
              <a:ext uri="{FF2B5EF4-FFF2-40B4-BE49-F238E27FC236}">
                <a16:creationId xmlns:a16="http://schemas.microsoft.com/office/drawing/2014/main" id="{C64970F5-BE54-4483-8F9C-8EB4C7D4B0DA}"/>
              </a:ext>
            </a:extLst>
          </p:cNvPr>
          <p:cNvSpPr>
            <a:spLocks xmlns:a="http://schemas.openxmlformats.org/drawingml/2006/main" noGrp="1"/>
          </p:cNvSpPr>
          <p:nvPr/>
        </p:nvSpPr>
        <p:spPr>
          <a:xfrm xmlns:a="http://schemas.openxmlformats.org/drawingml/2006/main">
            <a:off x="704850" y="39433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An itemised proposal</a:t>
            </a:r>
          </a:p>
        </p:txBody>
      </p:sp>
      <p:sp>
        <p:nvSpPr>
          <p:cNvPr id="9" name="">
            <a:extLst xmlns:a="http://schemas.openxmlformats.org/drawingml/2006/main">
              <a:ext uri="{FF2B5EF4-FFF2-40B4-BE49-F238E27FC236}">
                <a16:creationId xmlns:a16="http://schemas.microsoft.com/office/drawing/2014/main" id="{14FB96A3-6067-4C07-8C6C-B955694FA9A8}"/>
              </a:ext>
            </a:extLst>
          </p:cNvPr>
          <p:cNvSpPr>
            <a:spLocks xmlns:a="http://schemas.openxmlformats.org/drawingml/2006/main" noGrp="1"/>
          </p:cNvSpPr>
          <p:nvPr/>
        </p:nvSpPr>
        <p:spPr>
          <a:xfrm xmlns:a="http://schemas.openxmlformats.org/drawingml/2006/main">
            <a:off x="4095750" y="394335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A quantity list, quote and supported invoice documents.</a:t>
            </a:r>
          </a:p>
        </p:txBody>
      </p:sp>
      <p:sp>
        <p:nvSpPr>
          <p:cNvPr id="10" name="">
            <a:extLst xmlns:a="http://schemas.openxmlformats.org/drawingml/2006/main">
              <a:ext uri="{FF2B5EF4-FFF2-40B4-BE49-F238E27FC236}">
                <a16:creationId xmlns:a16="http://schemas.microsoft.com/office/drawing/2014/main" id="{363B1241-1F2F-49B9-A3F5-68BABEE72193}"/>
              </a:ext>
            </a:extLst>
          </p:cNvPr>
          <p:cNvSpPr>
            <a:spLocks xmlns:a="http://schemas.openxmlformats.org/drawingml/2006/main" noGrp="1"/>
          </p:cNvSpPr>
          <p:nvPr/>
        </p:nvSpPr>
        <p:spPr>
          <a:xfrm xmlns:a="http://schemas.openxmlformats.org/drawingml/2006/main">
            <a:off x="704850" y="49244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A protected revision</a:t>
            </a:r>
          </a:p>
        </p:txBody>
      </p:sp>
      <p:sp>
        <p:nvSpPr>
          <p:cNvPr id="11" name="">
            <a:extLst xmlns:a="http://schemas.openxmlformats.org/drawingml/2006/main">
              <a:ext uri="{FF2B5EF4-FFF2-40B4-BE49-F238E27FC236}">
                <a16:creationId xmlns:a16="http://schemas.microsoft.com/office/drawing/2014/main" id="{1E4DCA8C-03D3-4A11-99C4-308A4BF1F5FF}"/>
              </a:ext>
            </a:extLst>
          </p:cNvPr>
          <p:cNvSpPr>
            <a:spLocks xmlns:a="http://schemas.openxmlformats.org/drawingml/2006/main" noGrp="1"/>
          </p:cNvSpPr>
          <p:nvPr/>
        </p:nvSpPr>
        <p:spPr>
          <a:xfrm xmlns:a="http://schemas.openxmlformats.org/drawingml/2006/main">
            <a:off x="4095750" y="492442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An issued quote keeps its original quantities and prices.</a:t>
            </a:r>
          </a:p>
        </p:txBody>
      </p:sp>
    </p:spTree>
    <p:extLst>
      <p:ext uri="{BB962C8B-B14F-4D97-AF65-F5344CB8AC3E}">
        <p14:creationId xmlns:p14="http://schemas.microsoft.com/office/powerpoint/2010/main" val="1215727255"/>
      </p:ext>
    </p:extLst>
  </p:cSld>
</p:sld>
</file>

<file path=ppt/slides/slide9.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6C0125-05C3-4C74-9F07-34524D928E43}"/>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3B35"/>
                </a:solidFill>
                <a:latin typeface="Helvetica Neue"/>
                <a:ea typeface="Helvetica Neue"/>
                <a:cs typeface="Helvetica Neue"/>
              </a:defRPr>
            </a:pPr>
            <a:r>
              <a:rPr sz="3450" b="1">
                <a:solidFill>
                  <a:srgbClr val="153B35"/>
                </a:solidFill>
                <a:latin typeface="Helvetica Neue"/>
                <a:ea typeface="Helvetica Neue"/>
                <a:cs typeface="Helvetica Neue"/>
              </a:rPr>
              <a:t>Project and payment records</a:t>
            </a:r>
          </a:p>
        </p:txBody>
      </p:sp>
      <p:sp>
        <p:nvSpPr>
          <p:cNvPr id="2" name="">
            <a:extLst xmlns:a="http://schemas.openxmlformats.org/drawingml/2006/main">
              <a:ext uri="{FF2B5EF4-FFF2-40B4-BE49-F238E27FC236}">
                <a16:creationId xmlns:a16="http://schemas.microsoft.com/office/drawing/2014/main" id="{B9FC1603-9286-4657-97E1-5BC99D254477}"/>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904C7A93-26B3-4436-A112-6D6C4980273C}"/>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7EC05E2D-739D-4E86-AE18-F67D1CF4C42A}"/>
              </a:ext>
            </a:extLst>
          </p:cNvPr>
          <p:cNvSpPr>
            <a:spLocks xmlns:a="http://schemas.openxmlformats.org/drawingml/2006/main" noGrp="1"/>
          </p:cNvSpPr>
          <p:nvPr/>
        </p:nvSpPr>
        <p:spPr>
          <a:xfrm xmlns:a="http://schemas.openxmlformats.org/drawingml/2006/main">
            <a:off x="685800" y="1876425"/>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53B35"/>
                </a:solidFill>
                <a:latin typeface="Helvetica Neue"/>
                <a:ea typeface="Helvetica Neue"/>
                <a:cs typeface="Helvetica Neue"/>
              </a:defRPr>
            </a:pPr>
            <a:r>
              <a:rPr sz="3675" b="1">
                <a:solidFill>
                  <a:srgbClr val="153B35"/>
                </a:solidFill>
                <a:latin typeface="Helvetica Neue"/>
                <a:ea typeface="Helvetica Neue"/>
                <a:cs typeface="Helvetica Neue"/>
              </a:rPr>
              <a:t>The customer collects the money.</a:t>
            </a:r>
          </a:p>
          <a:p xmlns:a="http://schemas.openxmlformats.org/drawingml/2006/main">
            <a:pPr>
              <a:defRPr sz="3675" b="1">
                <a:solidFill>
                  <a:srgbClr val="153B35"/>
                </a:solidFill>
                <a:latin typeface="Helvetica Neue"/>
                <a:ea typeface="Helvetica Neue"/>
                <a:cs typeface="Helvetica Neue"/>
              </a:defRPr>
            </a:pPr>
            <a:r>
              <a:rPr sz="3675" b="1">
                <a:solidFill>
                  <a:srgbClr val="153B35"/>
                </a:solidFill>
                <a:latin typeface="Helvetica Neue"/>
                <a:ea typeface="Helvetica Neue"/>
                <a:cs typeface="Helvetica Neue"/>
              </a:rPr>
              <a:t>Our app keeps the record.</a:t>
            </a:r>
          </a:p>
        </p:txBody>
      </p:sp>
      <p:sp>
        <p:nvSpPr>
          <p:cNvPr id="5" name="">
            <a:extLst xmlns:a="http://schemas.openxmlformats.org/drawingml/2006/main">
              <a:ext uri="{FF2B5EF4-FFF2-40B4-BE49-F238E27FC236}">
                <a16:creationId xmlns:a16="http://schemas.microsoft.com/office/drawing/2014/main" id="{6A3C527E-0AA4-4214-88C9-F3CC8AC0F287}"/>
              </a:ext>
            </a:extLst>
          </p:cNvPr>
          <p:cNvSpPr>
            <a:spLocks xmlns:a="http://schemas.openxmlformats.org/drawingml/2006/main" noGrp="1"/>
          </p:cNvSpPr>
          <p:nvPr/>
        </p:nvSpPr>
        <p:spPr>
          <a:xfrm xmlns:a="http://schemas.openxmlformats.org/drawingml/2006/main">
            <a:off x="723900" y="3695700"/>
            <a:ext cx="10572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56A63"/>
                </a:solidFill>
                <a:latin typeface="Helvetica Neue"/>
                <a:ea typeface="Helvetica Neue"/>
                <a:cs typeface="Helvetica Neue"/>
              </a:defRPr>
            </a:pPr>
            <a:r>
              <a:rPr sz="2175" b="0">
                <a:solidFill>
                  <a:srgbClr val="556A63"/>
                </a:solidFill>
                <a:latin typeface="Helvetica Neue"/>
                <a:ea typeface="Helvetica Neue"/>
                <a:cs typeface="Helvetica Neue"/>
              </a:rPr>
              <a:t>Client history and quote status</a:t>
            </a:r>
          </a:p>
          <a:p xmlns:a="http://schemas.openxmlformats.org/drawingml/2006/main">
            <a:pPr>
              <a:defRPr sz="2175" b="0">
                <a:solidFill>
                  <a:srgbClr val="556A63"/>
                </a:solidFill>
                <a:latin typeface="Helvetica Neue"/>
                <a:ea typeface="Helvetica Neue"/>
                <a:cs typeface="Helvetica Neue"/>
              </a:defRPr>
            </a:pPr>
            <a:r>
              <a:rPr sz="2175" b="0">
                <a:solidFill>
                  <a:srgbClr val="556A63"/>
                </a:solidFill>
                <a:latin typeface="Helvetica Neue"/>
                <a:ea typeface="Helvetica Neue"/>
                <a:cs typeface="Helvetica Neue"/>
              </a:rPr>
              <a:t>Payment amounts and due dates</a:t>
            </a:r>
          </a:p>
          <a:p xmlns:a="http://schemas.openxmlformats.org/drawingml/2006/main">
            <a:pPr>
              <a:defRPr sz="2175" b="0">
                <a:solidFill>
                  <a:srgbClr val="556A63"/>
                </a:solidFill>
                <a:latin typeface="Helvetica Neue"/>
                <a:ea typeface="Helvetica Neue"/>
                <a:cs typeface="Helvetica Neue"/>
              </a:defRPr>
            </a:pPr>
            <a:r>
              <a:rPr sz="2175" b="0">
                <a:solidFill>
                  <a:srgbClr val="556A63"/>
                </a:solidFill>
                <a:latin typeface="Helvetica Neue"/>
                <a:ea typeface="Helvetica Neue"/>
                <a:cs typeface="Helvetica Neue"/>
              </a:rPr>
              <a:t>Outstanding balances and overdue instalments</a:t>
            </a:r>
          </a:p>
          <a:p xmlns:a="http://schemas.openxmlformats.org/drawingml/2006/main">
            <a:pPr>
              <a:defRPr sz="2175" b="0">
                <a:solidFill>
                  <a:srgbClr val="556A63"/>
                </a:solidFill>
                <a:latin typeface="Helvetica Neue"/>
                <a:ea typeface="Helvetica Neue"/>
                <a:cs typeface="Helvetica Neue"/>
              </a:defRPr>
            </a:pPr>
            <a:r>
              <a:rPr sz="2175" b="0">
                <a:solidFill>
                  <a:srgbClr val="556A63"/>
                </a:solidFill>
                <a:latin typeface="Helvetica Neue"/>
                <a:ea typeface="Helvetica Neue"/>
                <a:cs typeface="Helvetica Neue"/>
              </a:rPr>
              <a:t>A retained history of corrections</a:t>
            </a:r>
          </a:p>
        </p:txBody>
      </p:sp>
    </p:spTree>
    <p:extLst>
      <p:ext uri="{BB962C8B-B14F-4D97-AF65-F5344CB8AC3E}">
        <p14:creationId xmlns:p14="http://schemas.microsoft.com/office/powerpoint/2010/main" val="1445587834"/>
      </p:ext>
    </p:extLst>
  </p:cSld>
</p:sld>
</file>

<file path=ppt/slides/slide10.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C55147-60C9-4981-AFAD-2AFCCD879C5B}"/>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3B35"/>
                </a:solidFill>
                <a:latin typeface="Helvetica Neue"/>
                <a:ea typeface="Helvetica Neue"/>
                <a:cs typeface="Helvetica Neue"/>
              </a:defRPr>
            </a:pPr>
            <a:r>
              <a:rPr sz="3450" b="1">
                <a:solidFill>
                  <a:srgbClr val="153B35"/>
                </a:solidFill>
                <a:latin typeface="Helvetica Neue"/>
                <a:ea typeface="Helvetica Neue"/>
                <a:cs typeface="Helvetica Neue"/>
              </a:rPr>
              <a:t>Three subscription plans</a:t>
            </a:r>
          </a:p>
        </p:txBody>
      </p:sp>
      <p:sp>
        <p:nvSpPr>
          <p:cNvPr id="2" name="">
            <a:extLst xmlns:a="http://schemas.openxmlformats.org/drawingml/2006/main">
              <a:ext uri="{FF2B5EF4-FFF2-40B4-BE49-F238E27FC236}">
                <a16:creationId xmlns:a16="http://schemas.microsoft.com/office/drawing/2014/main" id="{8A325D79-44ED-4E86-B4DC-832502237BDF}"/>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B199D088-C783-48CA-82FF-9177DB24BEB6}"/>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12D739E8-B764-4611-99BC-25169BAB4262}"/>
              </a:ext>
            </a:extLst>
          </p:cNvPr>
          <p:cNvSpPr>
            <a:spLocks xmlns:a="http://schemas.openxmlformats.org/drawingml/2006/main" noGrp="1"/>
          </p:cNvSpPr>
          <p:nvPr/>
        </p:nvSpPr>
        <p:spPr>
          <a:xfrm xmlns:a="http://schemas.openxmlformats.org/drawingml/2006/main">
            <a:off x="704850" y="21240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Designer</a:t>
            </a:r>
          </a:p>
        </p:txBody>
      </p:sp>
      <p:sp>
        <p:nvSpPr>
          <p:cNvPr id="5" name="">
            <a:extLst xmlns:a="http://schemas.openxmlformats.org/drawingml/2006/main">
              <a:ext uri="{FF2B5EF4-FFF2-40B4-BE49-F238E27FC236}">
                <a16:creationId xmlns:a16="http://schemas.microsoft.com/office/drawing/2014/main" id="{0972D4B0-D528-4A15-AA78-B0B9F9F72044}"/>
              </a:ext>
            </a:extLst>
          </p:cNvPr>
          <p:cNvSpPr>
            <a:spLocks xmlns:a="http://schemas.openxmlformats.org/drawingml/2006/main" noGrp="1"/>
          </p:cNvSpPr>
          <p:nvPr/>
        </p:nvSpPr>
        <p:spPr>
          <a:xfrm xmlns:a="http://schemas.openxmlformats.org/drawingml/2006/main">
            <a:off x="4095750" y="212407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For one designer: design, save, cost and export proposals.</a:t>
            </a:r>
          </a:p>
        </p:txBody>
      </p:sp>
      <p:sp>
        <p:nvSpPr>
          <p:cNvPr id="6" name="">
            <a:extLst xmlns:a="http://schemas.openxmlformats.org/drawingml/2006/main">
              <a:ext uri="{FF2B5EF4-FFF2-40B4-BE49-F238E27FC236}">
                <a16:creationId xmlns:a16="http://schemas.microsoft.com/office/drawing/2014/main" id="{D37C16BC-EA3A-4560-B3F5-95A424494A56}"/>
              </a:ext>
            </a:extLst>
          </p:cNvPr>
          <p:cNvSpPr>
            <a:spLocks xmlns:a="http://schemas.openxmlformats.org/drawingml/2006/main" noGrp="1"/>
          </p:cNvSpPr>
          <p:nvPr/>
        </p:nvSpPr>
        <p:spPr>
          <a:xfrm xmlns:a="http://schemas.openxmlformats.org/drawingml/2006/main">
            <a:off x="704850" y="31051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Professional</a:t>
            </a:r>
          </a:p>
        </p:txBody>
      </p:sp>
      <p:sp>
        <p:nvSpPr>
          <p:cNvPr id="7" name="">
            <a:extLst xmlns:a="http://schemas.openxmlformats.org/drawingml/2006/main">
              <a:ext uri="{FF2B5EF4-FFF2-40B4-BE49-F238E27FC236}">
                <a16:creationId xmlns:a16="http://schemas.microsoft.com/office/drawing/2014/main" id="{7171EF45-408C-4145-9AAB-13C92E210C00}"/>
              </a:ext>
            </a:extLst>
          </p:cNvPr>
          <p:cNvSpPr>
            <a:spLocks xmlns:a="http://schemas.openxmlformats.org/drawingml/2006/main" noGrp="1"/>
          </p:cNvSpPr>
          <p:nvPr/>
        </p:nvSpPr>
        <p:spPr>
          <a:xfrm xmlns:a="http://schemas.openxmlformats.org/drawingml/2006/main">
            <a:off x="4095750" y="310515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For a solo business: add client history and payment records.</a:t>
            </a:r>
          </a:p>
        </p:txBody>
      </p:sp>
      <p:sp>
        <p:nvSpPr>
          <p:cNvPr id="8" name="">
            <a:extLst xmlns:a="http://schemas.openxmlformats.org/drawingml/2006/main">
              <a:ext uri="{FF2B5EF4-FFF2-40B4-BE49-F238E27FC236}">
                <a16:creationId xmlns:a16="http://schemas.microsoft.com/office/drawing/2014/main" id="{B52DC61B-9D52-4675-94CA-A63E50FE927B}"/>
              </a:ext>
            </a:extLst>
          </p:cNvPr>
          <p:cNvSpPr>
            <a:spLocks xmlns:a="http://schemas.openxmlformats.org/drawingml/2006/main" noGrp="1"/>
          </p:cNvSpPr>
          <p:nvPr/>
        </p:nvSpPr>
        <p:spPr>
          <a:xfrm xmlns:a="http://schemas.openxmlformats.org/drawingml/2006/main">
            <a:off x="704850" y="40862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Company</a:t>
            </a:r>
          </a:p>
        </p:txBody>
      </p:sp>
      <p:sp>
        <p:nvSpPr>
          <p:cNvPr id="9" name="">
            <a:extLst xmlns:a="http://schemas.openxmlformats.org/drawingml/2006/main">
              <a:ext uri="{FF2B5EF4-FFF2-40B4-BE49-F238E27FC236}">
                <a16:creationId xmlns:a16="http://schemas.microsoft.com/office/drawing/2014/main" id="{78F399E4-4B5C-4DCF-9D09-2049F4D86690}"/>
              </a:ext>
            </a:extLst>
          </p:cNvPr>
          <p:cNvSpPr>
            <a:spLocks xmlns:a="http://schemas.openxmlformats.org/drawingml/2006/main" noGrp="1"/>
          </p:cNvSpPr>
          <p:nvPr/>
        </p:nvSpPr>
        <p:spPr>
          <a:xfrm xmlns:a="http://schemas.openxmlformats.org/drawingml/2006/main">
            <a:off x="4095750" y="408622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For a team: shared projects, roles, shared rates and approvals.</a:t>
            </a:r>
          </a:p>
        </p:txBody>
      </p:sp>
      <p:sp>
        <p:nvSpPr>
          <p:cNvPr id="10" name="">
            <a:extLst xmlns:a="http://schemas.openxmlformats.org/drawingml/2006/main">
              <a:ext uri="{FF2B5EF4-FFF2-40B4-BE49-F238E27FC236}">
                <a16:creationId xmlns:a16="http://schemas.microsoft.com/office/drawing/2014/main" id="{DB74744B-81C0-44C0-A423-338B9ACAE97A}"/>
              </a:ext>
            </a:extLst>
          </p:cNvPr>
          <p:cNvSpPr>
            <a:spLocks xmlns:a="http://schemas.openxmlformats.org/drawingml/2006/main" noGrp="1"/>
          </p:cNvSpPr>
          <p:nvPr/>
        </p:nvSpPr>
        <p:spPr>
          <a:xfrm xmlns:a="http://schemas.openxmlformats.org/drawingml/2006/main">
            <a:off x="685800" y="5429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Saving and basic quote revisions belong in every paid plan.</a:t>
            </a:r>
          </a:p>
        </p:txBody>
      </p:sp>
      <p:sp>
        <p:nvSpPr>
          <p:cNvPr id="11" name="">
            <a:extLst xmlns:a="http://schemas.openxmlformats.org/drawingml/2006/main">
              <a:ext uri="{FF2B5EF4-FFF2-40B4-BE49-F238E27FC236}">
                <a16:creationId xmlns:a16="http://schemas.microsoft.com/office/drawing/2014/main" id="{0F220517-5C18-4C91-B80E-F2D3C0EBE4EC}"/>
              </a:ext>
            </a:extLst>
          </p:cNvPr>
          <p:cNvSpPr>
            <a:spLocks xmlns:a="http://schemas.openxmlformats.org/drawingml/2006/main" noGrp="1"/>
          </p:cNvSpPr>
          <p:nvPr/>
        </p:nvSpPr>
        <p:spPr>
          <a:xfrm xmlns:a="http://schemas.openxmlformats.org/drawingml/2006/main">
            <a:off x="685800" y="59340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56A63"/>
                </a:solidFill>
                <a:latin typeface="Helvetica Neue"/>
                <a:ea typeface="Helvetica Neue"/>
                <a:cs typeface="Helvetica Neue"/>
              </a:defRPr>
            </a:pPr>
            <a:r>
              <a:rPr sz="1500" b="0">
                <a:solidFill>
                  <a:srgbClr val="556A63"/>
                </a:solidFill>
                <a:latin typeface="Helvetica Neue"/>
                <a:ea typeface="Helvetica Neue"/>
                <a:cs typeface="Helvetica Neue"/>
              </a:rPr>
              <a:t>Subscription prices and exact limits remain to be decided.</a:t>
            </a:r>
          </a:p>
        </p:txBody>
      </p:sp>
    </p:spTree>
    <p:extLst>
      <p:ext uri="{BB962C8B-B14F-4D97-AF65-F5344CB8AC3E}">
        <p14:creationId xmlns:p14="http://schemas.microsoft.com/office/powerpoint/2010/main" val="907117648"/>
      </p:ext>
    </p:extLst>
  </p:cSld>
</p:sld>
</file>

<file path=ppt/slides/slide1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224925-4EC5-44B1-9EAC-E5FECA7EF4F3}"/>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3B35"/>
                </a:solidFill>
                <a:latin typeface="Helvetica Neue"/>
                <a:ea typeface="Helvetica Neue"/>
                <a:cs typeface="Helvetica Neue"/>
              </a:defRPr>
            </a:pPr>
            <a:r>
              <a:rPr sz="3450" b="1">
                <a:solidFill>
                  <a:srgbClr val="153B35"/>
                </a:solidFill>
                <a:latin typeface="Helvetica Neue"/>
                <a:ea typeface="Helvetica Neue"/>
                <a:cs typeface="Helvetica Neue"/>
              </a:rPr>
              <a:t>Current foundations and launch work</a:t>
            </a:r>
          </a:p>
        </p:txBody>
      </p:sp>
      <p:sp>
        <p:nvSpPr>
          <p:cNvPr id="2" name="">
            <a:extLst xmlns:a="http://schemas.openxmlformats.org/drawingml/2006/main">
              <a:ext uri="{FF2B5EF4-FFF2-40B4-BE49-F238E27FC236}">
                <a16:creationId xmlns:a16="http://schemas.microsoft.com/office/drawing/2014/main" id="{EF719EDD-C837-460E-8AD1-DDBC8889F4EB}"/>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6B941C39-D85E-42E1-9636-9FD0AF7C6F64}"/>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D43FE485-7E38-45D8-ABAC-D0022AD357F9}"/>
              </a:ext>
            </a:extLst>
          </p:cNvPr>
          <p:cNvSpPr>
            <a:spLocks xmlns:a="http://schemas.openxmlformats.org/drawingml/2006/main" noGrp="1"/>
          </p:cNvSpPr>
          <p:nvPr/>
        </p:nvSpPr>
        <p:spPr>
          <a:xfrm xmlns:a="http://schemas.openxmlformats.org/drawingml/2006/main">
            <a:off x="685800" y="1981200"/>
            <a:ext cx="4905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3B35"/>
                </a:solidFill>
                <a:latin typeface="Helvetica Neue"/>
                <a:ea typeface="Helvetica Neue"/>
                <a:cs typeface="Helvetica Neue"/>
              </a:defRPr>
            </a:pPr>
            <a:r>
              <a:rPr sz="2400" b="1">
                <a:solidFill>
                  <a:srgbClr val="153B35"/>
                </a:solidFill>
                <a:latin typeface="Helvetica Neue"/>
                <a:ea typeface="Helvetica Neue"/>
                <a:cs typeface="Helvetica Neue"/>
              </a:rPr>
              <a:t>Existing foundations</a:t>
            </a:r>
          </a:p>
        </p:txBody>
      </p:sp>
      <p:sp>
        <p:nvSpPr>
          <p:cNvPr id="5" name="">
            <a:extLst xmlns:a="http://schemas.openxmlformats.org/drawingml/2006/main">
              <a:ext uri="{FF2B5EF4-FFF2-40B4-BE49-F238E27FC236}">
                <a16:creationId xmlns:a16="http://schemas.microsoft.com/office/drawing/2014/main" id="{C703E81B-F5E6-4409-9B21-89E3E6C63440}"/>
              </a:ext>
            </a:extLst>
          </p:cNvPr>
          <p:cNvSpPr>
            <a:spLocks xmlns:a="http://schemas.openxmlformats.org/drawingml/2006/main" noGrp="1"/>
          </p:cNvSpPr>
          <p:nvPr/>
        </p:nvSpPr>
        <p:spPr>
          <a:xfrm xmlns:a="http://schemas.openxmlformats.org/drawingml/2006/main">
            <a:off x="685800" y="2762250"/>
            <a:ext cx="5000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56A63"/>
                </a:solidFill>
                <a:latin typeface="Helvetica Neue"/>
                <a:ea typeface="Helvetica Neue"/>
                <a:cs typeface="Helvetica Neue"/>
              </a:defRPr>
            </a:pPr>
            <a:r>
              <a:rPr sz="2100" b="0">
                <a:solidFill>
                  <a:srgbClr val="556A63"/>
                </a:solidFill>
                <a:latin typeface="Helvetica Neue"/>
                <a:ea typeface="Helvetica Neue"/>
                <a:cs typeface="Helvetica Neue"/>
              </a:rPr>
              <a:t>2D and 3D editing</a:t>
            </a:r>
          </a:p>
          <a:p xmlns:a="http://schemas.openxmlformats.org/drawingml/2006/main">
            <a:pPr>
              <a:defRPr sz="2100" b="0">
                <a:solidFill>
                  <a:srgbClr val="556A63"/>
                </a:solidFill>
                <a:latin typeface="Helvetica Neue"/>
                <a:ea typeface="Helvetica Neue"/>
                <a:cs typeface="Helvetica Neue"/>
              </a:defRPr>
            </a:pPr>
            <a:r>
              <a:rPr sz="2100" b="0">
                <a:solidFill>
                  <a:srgbClr val="556A63"/>
                </a:solidFill>
                <a:latin typeface="Helvetica Neue"/>
                <a:ea typeface="Helvetica Neue"/>
                <a:cs typeface="Helvetica Neue"/>
              </a:rPr>
              <a:t>Floor-plan extraction and review</a:t>
            </a:r>
          </a:p>
          <a:p xmlns:a="http://schemas.openxmlformats.org/drawingml/2006/main">
            <a:pPr>
              <a:defRPr sz="2100" b="0">
                <a:solidFill>
                  <a:srgbClr val="556A63"/>
                </a:solidFill>
                <a:latin typeface="Helvetica Neue"/>
                <a:ea typeface="Helvetica Neue"/>
                <a:cs typeface="Helvetica Neue"/>
              </a:defRPr>
            </a:pPr>
            <a:r>
              <a:rPr sz="2100" b="0">
                <a:solidFill>
                  <a:srgbClr val="556A63"/>
                </a:solidFill>
                <a:latin typeface="Helvetica Neue"/>
                <a:ea typeface="Helvetica Neue"/>
                <a:cs typeface="Helvetica Neue"/>
              </a:rPr>
              <a:t>Materials, lighting and catalogue</a:t>
            </a:r>
          </a:p>
          <a:p xmlns:a="http://schemas.openxmlformats.org/drawingml/2006/main">
            <a:pPr>
              <a:defRPr sz="2100" b="0">
                <a:solidFill>
                  <a:srgbClr val="556A63"/>
                </a:solidFill>
                <a:latin typeface="Helvetica Neue"/>
                <a:ea typeface="Helvetica Neue"/>
                <a:cs typeface="Helvetica Neue"/>
              </a:defRPr>
            </a:pPr>
            <a:r>
              <a:rPr sz="2100" b="0">
                <a:solidFill>
                  <a:srgbClr val="556A63"/>
                </a:solidFill>
                <a:latin typeface="Helvetica Neue"/>
                <a:ea typeface="Helvetica Neue"/>
                <a:cs typeface="Helvetica Neue"/>
              </a:rPr>
              <a:t>Costing, quote and ledger logic</a:t>
            </a:r>
          </a:p>
        </p:txBody>
      </p:sp>
      <p:sp>
        <p:nvSpPr>
          <p:cNvPr id="6" name="">
            <a:extLst xmlns:a="http://schemas.openxmlformats.org/drawingml/2006/main">
              <a:ext uri="{FF2B5EF4-FFF2-40B4-BE49-F238E27FC236}">
                <a16:creationId xmlns:a16="http://schemas.microsoft.com/office/drawing/2014/main" id="{157BDFBB-2C02-4434-BD7F-1595B8480E39}"/>
              </a:ext>
            </a:extLst>
          </p:cNvPr>
          <p:cNvSpPr>
            <a:spLocks xmlns:a="http://schemas.openxmlformats.org/drawingml/2006/main" noGrp="1"/>
          </p:cNvSpPr>
          <p:nvPr/>
        </p:nvSpPr>
        <p:spPr>
          <a:xfrm xmlns:a="http://schemas.openxmlformats.org/drawingml/2006/main">
            <a:off x="6419850" y="198120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3B35"/>
                </a:solidFill>
                <a:latin typeface="Helvetica Neue"/>
                <a:ea typeface="Helvetica Neue"/>
                <a:cs typeface="Helvetica Neue"/>
              </a:defRPr>
            </a:pPr>
            <a:r>
              <a:rPr sz="2400" b="1">
                <a:solidFill>
                  <a:srgbClr val="153B35"/>
                </a:solidFill>
                <a:latin typeface="Helvetica Neue"/>
                <a:ea typeface="Helvetica Neue"/>
                <a:cs typeface="Helvetica Neue"/>
              </a:rPr>
              <a:t>Needed for a paid launch</a:t>
            </a:r>
          </a:p>
        </p:txBody>
      </p:sp>
      <p:sp>
        <p:nvSpPr>
          <p:cNvPr id="7" name="">
            <a:extLst xmlns:a="http://schemas.openxmlformats.org/drawingml/2006/main">
              <a:ext uri="{FF2B5EF4-FFF2-40B4-BE49-F238E27FC236}">
                <a16:creationId xmlns:a16="http://schemas.microsoft.com/office/drawing/2014/main" id="{4B9F3438-9688-4461-863B-9D4FEAFEF9C0}"/>
              </a:ext>
            </a:extLst>
          </p:cNvPr>
          <p:cNvSpPr>
            <a:spLocks xmlns:a="http://schemas.openxmlformats.org/drawingml/2006/main" noGrp="1"/>
          </p:cNvSpPr>
          <p:nvPr/>
        </p:nvSpPr>
        <p:spPr>
          <a:xfrm xmlns:a="http://schemas.openxmlformats.org/drawingml/2006/main">
            <a:off x="6419850" y="2762250"/>
            <a:ext cx="50958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56A63"/>
                </a:solidFill>
                <a:latin typeface="Helvetica Neue"/>
                <a:ea typeface="Helvetica Neue"/>
                <a:cs typeface="Helvetica Neue"/>
              </a:defRPr>
            </a:pPr>
            <a:r>
              <a:rPr sz="2100" b="0">
                <a:solidFill>
                  <a:srgbClr val="556A63"/>
                </a:solidFill>
                <a:latin typeface="Helvetica Neue"/>
                <a:ea typeface="Helvetica Neue"/>
                <a:cs typeface="Helvetica Neue"/>
              </a:rPr>
              <a:t>Production accounts and access</a:t>
            </a:r>
          </a:p>
          <a:p xmlns:a="http://schemas.openxmlformats.org/drawingml/2006/main">
            <a:pPr>
              <a:defRPr sz="2100" b="0">
                <a:solidFill>
                  <a:srgbClr val="556A63"/>
                </a:solidFill>
                <a:latin typeface="Helvetica Neue"/>
                <a:ea typeface="Helvetica Neue"/>
                <a:cs typeface="Helvetica Neue"/>
              </a:defRPr>
            </a:pPr>
            <a:r>
              <a:rPr sz="2100" b="0">
                <a:solidFill>
                  <a:srgbClr val="556A63"/>
                </a:solidFill>
                <a:latin typeface="Helvetica Neue"/>
                <a:ea typeface="Helvetica Neue"/>
                <a:cs typeface="Helvetica Neue"/>
              </a:rPr>
              <a:t>Hosted storage and recovery</a:t>
            </a:r>
          </a:p>
          <a:p xmlns:a="http://schemas.openxmlformats.org/drawingml/2006/main">
            <a:pPr>
              <a:defRPr sz="2100" b="0">
                <a:solidFill>
                  <a:srgbClr val="556A63"/>
                </a:solidFill>
                <a:latin typeface="Helvetica Neue"/>
                <a:ea typeface="Helvetica Neue"/>
                <a:cs typeface="Helvetica Neue"/>
              </a:defRPr>
            </a:pPr>
            <a:r>
              <a:rPr sz="2100" b="0">
                <a:solidFill>
                  <a:srgbClr val="556A63"/>
                </a:solidFill>
                <a:latin typeface="Helvetica Neue"/>
                <a:ea typeface="Helvetica Neue"/>
                <a:cs typeface="Helvetica Neue"/>
              </a:rPr>
              <a:t>Real subscription billing</a:t>
            </a:r>
          </a:p>
          <a:p xmlns:a="http://schemas.openxmlformats.org/drawingml/2006/main">
            <a:pPr>
              <a:defRPr sz="2100" b="0">
                <a:solidFill>
                  <a:srgbClr val="556A63"/>
                </a:solidFill>
                <a:latin typeface="Helvetica Neue"/>
                <a:ea typeface="Helvetica Neue"/>
                <a:cs typeface="Helvetica Neue"/>
              </a:defRPr>
            </a:pPr>
            <a:r>
              <a:rPr sz="2100" b="0">
                <a:solidFill>
                  <a:srgbClr val="556A63"/>
                </a:solidFill>
                <a:latin typeface="Helvetica Neue"/>
                <a:ea typeface="Helvetica Neue"/>
                <a:cs typeface="Helvetica Neue"/>
              </a:rPr>
              <a:t>Verified complete customer journeys</a:t>
            </a:r>
          </a:p>
        </p:txBody>
      </p:sp>
      <p:sp>
        <p:nvSpPr>
          <p:cNvPr id="8" name="">
            <a:extLst xmlns:a="http://schemas.openxmlformats.org/drawingml/2006/main">
              <a:ext uri="{FF2B5EF4-FFF2-40B4-BE49-F238E27FC236}">
                <a16:creationId xmlns:a16="http://schemas.microsoft.com/office/drawing/2014/main" id="{44717B9F-F287-42D0-9801-FA0A35E05073}"/>
              </a:ext>
            </a:extLst>
          </p:cNvPr>
          <p:cNvSpPr>
            <a:spLocks xmlns:a="http://schemas.openxmlformats.org/drawingml/2006/main" noGrp="1"/>
          </p:cNvSpPr>
          <p:nvPr/>
        </p:nvSpPr>
        <p:spPr>
          <a:xfrm xmlns:a="http://schemas.openxmlformats.org/drawingml/2006/main">
            <a:off x="685800" y="56197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B35"/>
                </a:solidFill>
                <a:latin typeface="Helvetica Neue"/>
                <a:ea typeface="Helvetica Neue"/>
                <a:cs typeface="Helvetica Neue"/>
              </a:defRPr>
            </a:pPr>
            <a:r>
              <a:rPr sz="1875" b="1">
                <a:solidFill>
                  <a:srgbClr val="153B35"/>
                </a:solidFill>
                <a:latin typeface="Helvetica Neue"/>
                <a:ea typeface="Helvetica Neue"/>
                <a:cs typeface="Helvetica Neue"/>
              </a:rPr>
              <a:t>Existing code does not mean a feature has passed its release checks.</a:t>
            </a:r>
          </a:p>
        </p:txBody>
      </p:sp>
    </p:spTree>
    <p:extLst>
      <p:ext uri="{BB962C8B-B14F-4D97-AF65-F5344CB8AC3E}">
        <p14:creationId xmlns:p14="http://schemas.microsoft.com/office/powerpoint/2010/main" val="500637691"/>
      </p:ext>
    </p:extLst>
  </p:cSld>
</p:sld>
</file>

<file path=ppt/slides/slide1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D532EE5-A441-4221-8DF0-41BD3638A753}"/>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3B35"/>
                </a:solidFill>
                <a:latin typeface="Helvetica Neue"/>
                <a:ea typeface="Helvetica Neue"/>
                <a:cs typeface="Helvetica Neue"/>
              </a:defRPr>
            </a:pPr>
            <a:r>
              <a:rPr sz="3450" b="1">
                <a:solidFill>
                  <a:srgbClr val="153B35"/>
                </a:solidFill>
                <a:latin typeface="Helvetica Neue"/>
                <a:ea typeface="Helvetica Neue"/>
                <a:cs typeface="Helvetica Neue"/>
              </a:rPr>
              <a:t>Our delivery plan</a:t>
            </a:r>
          </a:p>
        </p:txBody>
      </p:sp>
      <p:sp>
        <p:nvSpPr>
          <p:cNvPr id="2" name="">
            <a:extLst xmlns:a="http://schemas.openxmlformats.org/drawingml/2006/main">
              <a:ext uri="{FF2B5EF4-FFF2-40B4-BE49-F238E27FC236}">
                <a16:creationId xmlns:a16="http://schemas.microsoft.com/office/drawing/2014/main" id="{B91853B5-227A-4876-B566-77F3732674BC}"/>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39660173-3F86-4CDE-8812-8117FE860334}"/>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A63"/>
                </a:solidFill>
                <a:latin typeface="Helvetica Neue"/>
                <a:ea typeface="Helvetica Neue"/>
                <a:cs typeface="Helvetica Neue"/>
              </a:defRPr>
            </a:pPr>
            <a:r>
              <a:rPr sz="1125" b="0">
                <a:solidFill>
                  <a:srgbClr val="556A63"/>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1BD10F7E-E682-48A5-9CCB-4952F6BAB729}"/>
              </a:ext>
            </a:extLst>
          </p:cNvPr>
          <p:cNvSpPr>
            <a:spLocks xmlns:a="http://schemas.openxmlformats.org/drawingml/2006/main" noGrp="1"/>
          </p:cNvSpPr>
          <p:nvPr/>
        </p:nvSpPr>
        <p:spPr>
          <a:xfrm xmlns:a="http://schemas.openxmlformats.org/drawingml/2006/main">
            <a:off x="704850" y="1981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First  /  Designer</a:t>
            </a:r>
          </a:p>
        </p:txBody>
      </p:sp>
      <p:sp>
        <p:nvSpPr>
          <p:cNvPr id="5" name="">
            <a:extLst xmlns:a="http://schemas.openxmlformats.org/drawingml/2006/main">
              <a:ext uri="{FF2B5EF4-FFF2-40B4-BE49-F238E27FC236}">
                <a16:creationId xmlns:a16="http://schemas.microsoft.com/office/drawing/2014/main" id="{9C9C617F-C2B8-4FA5-B017-D37D3813D822}"/>
              </a:ext>
            </a:extLst>
          </p:cNvPr>
          <p:cNvSpPr>
            <a:spLocks xmlns:a="http://schemas.openxmlformats.org/drawingml/2006/main" noGrp="1"/>
          </p:cNvSpPr>
          <p:nvPr/>
        </p:nvSpPr>
        <p:spPr>
          <a:xfrm xmlns:a="http://schemas.openxmlformats.org/drawingml/2006/main">
            <a:off x="4095750" y="198120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Complete living-room, bedroom and kitchen journeys through a checked proposal.</a:t>
            </a:r>
          </a:p>
        </p:txBody>
      </p:sp>
      <p:sp>
        <p:nvSpPr>
          <p:cNvPr id="6" name="">
            <a:extLst xmlns:a="http://schemas.openxmlformats.org/drawingml/2006/main">
              <a:ext uri="{FF2B5EF4-FFF2-40B4-BE49-F238E27FC236}">
                <a16:creationId xmlns:a16="http://schemas.microsoft.com/office/drawing/2014/main" id="{53BE196D-57C5-4BBF-9C8B-92F68CFA81A3}"/>
              </a:ext>
            </a:extLst>
          </p:cNvPr>
          <p:cNvSpPr>
            <a:spLocks xmlns:a="http://schemas.openxmlformats.org/drawingml/2006/main" noGrp="1"/>
          </p:cNvSpPr>
          <p:nvPr/>
        </p:nvSpPr>
        <p:spPr>
          <a:xfrm xmlns:a="http://schemas.openxmlformats.org/drawingml/2006/main">
            <a:off x="704850" y="29622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In parallel  /  Platform</a:t>
            </a:r>
          </a:p>
        </p:txBody>
      </p:sp>
      <p:sp>
        <p:nvSpPr>
          <p:cNvPr id="7" name="">
            <a:extLst xmlns:a="http://schemas.openxmlformats.org/drawingml/2006/main">
              <a:ext uri="{FF2B5EF4-FFF2-40B4-BE49-F238E27FC236}">
                <a16:creationId xmlns:a16="http://schemas.microsoft.com/office/drawing/2014/main" id="{E23D4EA8-E3A7-4028-A4D2-0D2E12DCAA8B}"/>
              </a:ext>
            </a:extLst>
          </p:cNvPr>
          <p:cNvSpPr>
            <a:spLocks xmlns:a="http://schemas.openxmlformats.org/drawingml/2006/main" noGrp="1"/>
          </p:cNvSpPr>
          <p:nvPr/>
        </p:nvSpPr>
        <p:spPr>
          <a:xfrm xmlns:a="http://schemas.openxmlformats.org/drawingml/2006/main">
            <a:off x="4095750" y="296227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Build production accounts, secure storage, permissions and billing.</a:t>
            </a:r>
          </a:p>
        </p:txBody>
      </p:sp>
      <p:sp>
        <p:nvSpPr>
          <p:cNvPr id="8" name="">
            <a:extLst xmlns:a="http://schemas.openxmlformats.org/drawingml/2006/main">
              <a:ext uri="{FF2B5EF4-FFF2-40B4-BE49-F238E27FC236}">
                <a16:creationId xmlns:a16="http://schemas.microsoft.com/office/drawing/2014/main" id="{87062F76-460A-426B-9148-BF7F04F5622D}"/>
              </a:ext>
            </a:extLst>
          </p:cNvPr>
          <p:cNvSpPr>
            <a:spLocks xmlns:a="http://schemas.openxmlformats.org/drawingml/2006/main" noGrp="1"/>
          </p:cNvSpPr>
          <p:nvPr/>
        </p:nvSpPr>
        <p:spPr>
          <a:xfrm xmlns:a="http://schemas.openxmlformats.org/drawingml/2006/main">
            <a:off x="704850" y="39433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Next  /  Professional</a:t>
            </a:r>
          </a:p>
        </p:txBody>
      </p:sp>
      <p:sp>
        <p:nvSpPr>
          <p:cNvPr id="9" name="">
            <a:extLst xmlns:a="http://schemas.openxmlformats.org/drawingml/2006/main">
              <a:ext uri="{FF2B5EF4-FFF2-40B4-BE49-F238E27FC236}">
                <a16:creationId xmlns:a16="http://schemas.microsoft.com/office/drawing/2014/main" id="{C6BB8CFB-A656-41CB-91C6-12830F9CEED3}"/>
              </a:ext>
            </a:extLst>
          </p:cNvPr>
          <p:cNvSpPr>
            <a:spLocks xmlns:a="http://schemas.openxmlformats.org/drawingml/2006/main" noGrp="1"/>
          </p:cNvSpPr>
          <p:nvPr/>
        </p:nvSpPr>
        <p:spPr>
          <a:xfrm xmlns:a="http://schemas.openxmlformats.org/drawingml/2006/main">
            <a:off x="4095750" y="394335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Verify client history, payment schedules and balance reports.</a:t>
            </a:r>
          </a:p>
        </p:txBody>
      </p:sp>
      <p:sp>
        <p:nvSpPr>
          <p:cNvPr id="10" name="">
            <a:extLst xmlns:a="http://schemas.openxmlformats.org/drawingml/2006/main">
              <a:ext uri="{FF2B5EF4-FFF2-40B4-BE49-F238E27FC236}">
                <a16:creationId xmlns:a16="http://schemas.microsoft.com/office/drawing/2014/main" id="{233D1755-FE64-44E6-9E98-0E1B468F7EDD}"/>
              </a:ext>
            </a:extLst>
          </p:cNvPr>
          <p:cNvSpPr>
            <a:spLocks xmlns:a="http://schemas.openxmlformats.org/drawingml/2006/main" noGrp="1"/>
          </p:cNvSpPr>
          <p:nvPr/>
        </p:nvSpPr>
        <p:spPr>
          <a:xfrm xmlns:a="http://schemas.openxmlformats.org/drawingml/2006/main">
            <a:off x="704850" y="49244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B35"/>
                </a:solidFill>
                <a:latin typeface="Helvetica Neue"/>
                <a:ea typeface="Helvetica Neue"/>
                <a:cs typeface="Helvetica Neue"/>
              </a:defRPr>
            </a:pPr>
            <a:r>
              <a:rPr sz="2175" b="1">
                <a:solidFill>
                  <a:srgbClr val="153B35"/>
                </a:solidFill>
                <a:latin typeface="Helvetica Neue"/>
                <a:ea typeface="Helvetica Neue"/>
                <a:cs typeface="Helvetica Neue"/>
              </a:rPr>
              <a:t>Then  /  Company</a:t>
            </a:r>
          </a:p>
        </p:txBody>
      </p:sp>
      <p:sp>
        <p:nvSpPr>
          <p:cNvPr id="11" name="">
            <a:extLst xmlns:a="http://schemas.openxmlformats.org/drawingml/2006/main">
              <a:ext uri="{FF2B5EF4-FFF2-40B4-BE49-F238E27FC236}">
                <a16:creationId xmlns:a16="http://schemas.microsoft.com/office/drawing/2014/main" id="{9884BF9A-E21D-4B58-BBC4-5C3BD25D7564}"/>
              </a:ext>
            </a:extLst>
          </p:cNvPr>
          <p:cNvSpPr>
            <a:spLocks xmlns:a="http://schemas.openxmlformats.org/drawingml/2006/main" noGrp="1"/>
          </p:cNvSpPr>
          <p:nvPr/>
        </p:nvSpPr>
        <p:spPr>
          <a:xfrm xmlns:a="http://schemas.openxmlformats.org/drawingml/2006/main">
            <a:off x="4095750" y="492442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56A63"/>
                </a:solidFill>
                <a:latin typeface="Helvetica Neue"/>
                <a:ea typeface="Helvetica Neue"/>
                <a:cs typeface="Helvetica Neue"/>
              </a:defRPr>
            </a:pPr>
            <a:r>
              <a:rPr sz="1950" b="0">
                <a:solidFill>
                  <a:srgbClr val="556A63"/>
                </a:solidFill>
                <a:latin typeface="Helvetica Neue"/>
                <a:ea typeface="Helvetica Neue"/>
                <a:cs typeface="Helvetica Neue"/>
              </a:rPr>
              <a:t>Deliver shared work, team permissions, approvals and oversight.</a:t>
            </a:r>
          </a:p>
        </p:txBody>
      </p:sp>
    </p:spTree>
    <p:extLst>
      <p:ext uri="{BB962C8B-B14F-4D97-AF65-F5344CB8AC3E}">
        <p14:creationId xmlns:p14="http://schemas.microsoft.com/office/powerpoint/2010/main" val="1043453995"/>
      </p:ext>
    </p:extLst>
  </p:cSld>
</p:sld>
</file>

<file path=ppt/slides/slide13.xml><?xml version="1.0" encoding="utf-8"?>
<p:sld xmlns:p="http://schemas.openxmlformats.org/presentationml/2006/main">
  <p:cSld>
    <p:bg>
      <p:bgPr>
        <a:solidFill xmlns:a="http://schemas.openxmlformats.org/drawingml/2006/main">
          <a:srgbClr val="102D2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42A9A2-0FC3-4C4A-8825-9A63932BD8D0}"/>
              </a:ext>
            </a:extLst>
          </p:cNvPr>
          <p:cNvSpPr>
            <a:spLocks xmlns:a="http://schemas.openxmlformats.org/drawingml/2006/main" noGrp="1"/>
          </p:cNvSpPr>
          <p:nvPr/>
        </p:nvSpPr>
        <p:spPr>
          <a:xfrm xmlns:a="http://schemas.openxmlformats.org/drawingml/2006/main">
            <a:off x="685800" y="5715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6F3EB"/>
                </a:solidFill>
                <a:latin typeface="Helvetica Neue"/>
                <a:ea typeface="Helvetica Neue"/>
                <a:cs typeface="Helvetica Neue"/>
              </a:defRPr>
            </a:pPr>
            <a:r>
              <a:rPr sz="3450" b="1">
                <a:solidFill>
                  <a:srgbClr val="F6F3EB"/>
                </a:solidFill>
                <a:latin typeface="Helvetica Neue"/>
                <a:ea typeface="Helvetica Neue"/>
                <a:cs typeface="Helvetica Neue"/>
              </a:rPr>
              <a:t>Our product in one sentence</a:t>
            </a:r>
          </a:p>
        </p:txBody>
      </p:sp>
      <p:sp>
        <p:nvSpPr>
          <p:cNvPr id="2" name="">
            <a:extLst xmlns:a="http://schemas.openxmlformats.org/drawingml/2006/main">
              <a:ext uri="{FF2B5EF4-FFF2-40B4-BE49-F238E27FC236}">
                <a16:creationId xmlns:a16="http://schemas.microsoft.com/office/drawing/2014/main" id="{FE2E941B-9884-4428-946E-92A278260489}"/>
              </a:ext>
            </a:extLst>
          </p:cNvPr>
          <p:cNvSpPr>
            <a:spLocks xmlns:a="http://schemas.openxmlformats.org/drawingml/2006/main" noGrp="1"/>
          </p:cNvSpPr>
          <p:nvPr/>
        </p:nvSpPr>
        <p:spPr>
          <a:xfrm xmlns:a="http://schemas.openxmlformats.org/drawingml/2006/main">
            <a:off x="685800" y="6362700"/>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7D8C4"/>
                </a:solidFill>
                <a:latin typeface="Helvetica Neue"/>
                <a:ea typeface="Helvetica Neue"/>
                <a:cs typeface="Helvetica Neue"/>
              </a:defRPr>
            </a:pPr>
            <a:r>
              <a:rPr sz="1125" b="0">
                <a:solidFill>
                  <a:srgbClr val="A7D8C4"/>
                </a:solidFill>
                <a:latin typeface="Helvetica Neue"/>
                <a:ea typeface="Helvetica Neue"/>
                <a:cs typeface="Helvetica Neue"/>
              </a:rPr>
              <a:t>MODUMITRA  /  CABINET STUDIO</a:t>
            </a:r>
          </a:p>
        </p:txBody>
      </p:sp>
      <p:sp>
        <p:nvSpPr>
          <p:cNvPr id="3" name="">
            <a:extLst xmlns:a="http://schemas.openxmlformats.org/drawingml/2006/main">
              <a:ext uri="{FF2B5EF4-FFF2-40B4-BE49-F238E27FC236}">
                <a16:creationId xmlns:a16="http://schemas.microsoft.com/office/drawing/2014/main" id="{F73612A0-4AA6-4521-BAF7-E16431C972B5}"/>
              </a:ext>
            </a:extLst>
          </p:cNvPr>
          <p:cNvSpPr>
            <a:spLocks xmlns:a="http://schemas.openxmlformats.org/drawingml/2006/main" noGrp="1"/>
          </p:cNvSpPr>
          <p:nvPr/>
        </p:nvSpPr>
        <p:spPr>
          <a:xfrm xmlns:a="http://schemas.openxmlformats.org/drawingml/2006/main">
            <a:off x="10953750" y="63627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7D8C4"/>
                </a:solidFill>
                <a:latin typeface="Helvetica Neue"/>
                <a:ea typeface="Helvetica Neue"/>
                <a:cs typeface="Helvetica Neue"/>
              </a:defRPr>
            </a:pPr>
            <a:r>
              <a:rPr sz="1125" b="0">
                <a:solidFill>
                  <a:srgbClr val="A7D8C4"/>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727CC55C-4F1A-4AB6-8B89-407F7CB89CFF}"/>
              </a:ext>
            </a:extLst>
          </p:cNvPr>
          <p:cNvSpPr>
            <a:spLocks xmlns:a="http://schemas.openxmlformats.org/drawingml/2006/main" noGrp="1"/>
          </p:cNvSpPr>
          <p:nvPr/>
        </p:nvSpPr>
        <p:spPr>
          <a:xfrm xmlns:a="http://schemas.openxmlformats.org/drawingml/2006/main">
            <a:off x="685800" y="1981200"/>
            <a:ext cx="1066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F6F3EB"/>
                </a:solidFill>
                <a:latin typeface="Helvetica Neue"/>
                <a:ea typeface="Helvetica Neue"/>
                <a:cs typeface="Helvetica Neue"/>
              </a:defRPr>
            </a:pPr>
            <a:r>
              <a:rPr sz="3975" b="1">
                <a:solidFill>
                  <a:srgbClr val="F6F3EB"/>
                </a:solidFill>
                <a:latin typeface="Helvetica Neue"/>
                <a:ea typeface="Helvetica Neue"/>
                <a:cs typeface="Helvetica Neue"/>
              </a:rPr>
              <a:t>We help interior professionals</a:t>
            </a:r>
          </a:p>
          <a:p xmlns:a="http://schemas.openxmlformats.org/drawingml/2006/main">
            <a:pPr>
              <a:defRPr sz="3975" b="1">
                <a:solidFill>
                  <a:srgbClr val="F6F3EB"/>
                </a:solidFill>
                <a:latin typeface="Helvetica Neue"/>
                <a:ea typeface="Helvetica Neue"/>
                <a:cs typeface="Helvetica Neue"/>
              </a:defRPr>
            </a:pPr>
            <a:r>
              <a:rPr sz="3975" b="1">
                <a:solidFill>
                  <a:srgbClr val="F6F3EB"/>
                </a:solidFill>
                <a:latin typeface="Helvetica Neue"/>
                <a:ea typeface="Helvetica Neue"/>
                <a:cs typeface="Helvetica Neue"/>
              </a:rPr>
              <a:t>design a space, show it in 3D,</a:t>
            </a:r>
          </a:p>
          <a:p xmlns:a="http://schemas.openxmlformats.org/drawingml/2006/main">
            <a:pPr>
              <a:defRPr sz="3975" b="1">
                <a:solidFill>
                  <a:srgbClr val="F6F3EB"/>
                </a:solidFill>
                <a:latin typeface="Helvetica Neue"/>
                <a:ea typeface="Helvetica Neue"/>
                <a:cs typeface="Helvetica Neue"/>
              </a:defRPr>
            </a:pPr>
            <a:r>
              <a:rPr sz="3975" b="1">
                <a:solidFill>
                  <a:srgbClr val="F6F3EB"/>
                </a:solidFill>
                <a:latin typeface="Helvetica Neue"/>
                <a:ea typeface="Helvetica Neue"/>
                <a:cs typeface="Helvetica Neue"/>
              </a:rPr>
              <a:t>and price the work using</a:t>
            </a:r>
          </a:p>
          <a:p xmlns:a="http://schemas.openxmlformats.org/drawingml/2006/main">
            <a:pPr>
              <a:defRPr sz="3975" b="1">
                <a:solidFill>
                  <a:srgbClr val="F6F3EB"/>
                </a:solidFill>
                <a:latin typeface="Helvetica Neue"/>
                <a:ea typeface="Helvetica Neue"/>
                <a:cs typeface="Helvetica Neue"/>
              </a:defRPr>
            </a:pPr>
            <a:r>
              <a:rPr sz="3975" b="1">
                <a:solidFill>
                  <a:srgbClr val="F6F3EB"/>
                </a:solidFill>
                <a:latin typeface="Helvetica Neue"/>
                <a:ea typeface="Helvetica Neue"/>
                <a:cs typeface="Helvetica Neue"/>
              </a:rPr>
              <a:t>their own rates.</a:t>
            </a:r>
          </a:p>
        </p:txBody>
      </p:sp>
      <p:sp>
        <p:nvSpPr>
          <p:cNvPr id="5" name="">
            <a:extLst xmlns:a="http://schemas.openxmlformats.org/drawingml/2006/main">
              <a:ext uri="{FF2B5EF4-FFF2-40B4-BE49-F238E27FC236}">
                <a16:creationId xmlns:a16="http://schemas.microsoft.com/office/drawing/2014/main" id="{DD4AC22E-F91F-4A22-A439-F61DAD5EAA42}"/>
              </a:ext>
            </a:extLst>
          </p:cNvPr>
          <p:cNvSpPr>
            <a:spLocks xmlns:a="http://schemas.openxmlformats.org/drawingml/2006/main" noGrp="1"/>
          </p:cNvSpPr>
          <p:nvPr/>
        </p:nvSpPr>
        <p:spPr>
          <a:xfrm xmlns:a="http://schemas.openxmlformats.org/drawingml/2006/main">
            <a:off x="723900" y="53625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7D8C4"/>
                </a:solidFill>
                <a:latin typeface="Helvetica Neue"/>
                <a:ea typeface="Helvetica Neue"/>
                <a:cs typeface="Helvetica Neue"/>
              </a:defRPr>
            </a:pPr>
            <a:r>
              <a:rPr sz="2100" b="0">
                <a:solidFill>
                  <a:srgbClr val="A7D8C4"/>
                </a:solidFill>
                <a:latin typeface="Helvetica Neue"/>
                <a:ea typeface="Helvetica Neue"/>
                <a:cs typeface="Helvetica Neue"/>
              </a:rPr>
              <a:t>Software subscriptions for designers, workshops and studios.</a:t>
            </a:r>
          </a:p>
        </p:txBody>
      </p:sp>
    </p:spTree>
    <p:extLst>
      <p:ext uri="{BB962C8B-B14F-4D97-AF65-F5344CB8AC3E}">
        <p14:creationId xmlns:p14="http://schemas.microsoft.com/office/powerpoint/2010/main" val="21357406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2026-09-17T18:44:44.8810000Z</dcterms:created>
  <dcterms:modified xsi:type="dcterms:W3CDTF">2026-09-17T18:44:44.8810000Z</dcterms:modified>
</coreProperties>
</file>